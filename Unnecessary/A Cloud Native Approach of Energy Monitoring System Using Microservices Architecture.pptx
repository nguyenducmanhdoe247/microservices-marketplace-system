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17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6" d="100"/>
          <a:sy n="56" d="100"/>
        </p:scale>
        <p:origin x="610" y="3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0" i="0">
                <a:solidFill>
                  <a:srgbClr val="1B1B26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0" i="0">
                <a:solidFill>
                  <a:srgbClr val="1B1B26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000" b="0" i="0">
                <a:solidFill>
                  <a:srgbClr val="1B1B26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5000" b="0" i="0">
                <a:solidFill>
                  <a:srgbClr val="1B1B26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000" b="0" i="0">
                <a:solidFill>
                  <a:srgbClr val="1B1B26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10/12/2025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000" b="0" i="0">
                <a:solidFill>
                  <a:srgbClr val="1B1B26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10/12/2025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10/12/2025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79883" y="345273"/>
            <a:ext cx="10546794" cy="787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0" i="0">
                <a:solidFill>
                  <a:srgbClr val="1B1B26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16000" y="2178113"/>
            <a:ext cx="10519410" cy="6350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0" i="0">
                <a:solidFill>
                  <a:srgbClr val="1B1B26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054936" y="0"/>
            <a:ext cx="16182340" cy="3133725"/>
            <a:chOff x="1054936" y="0"/>
            <a:chExt cx="16182340" cy="31337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54936" y="267846"/>
              <a:ext cx="5981699" cy="223837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032665" y="557"/>
              <a:ext cx="4219574" cy="250507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255333" y="0"/>
              <a:ext cx="5981699" cy="3133724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456598" y="5043688"/>
            <a:ext cx="17427575" cy="15779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841875" marR="5080" indent="-4829810">
              <a:lnSpc>
                <a:spcPts val="6230"/>
              </a:lnSpc>
            </a:pPr>
            <a:r>
              <a:rPr sz="5000" b="1" spc="155" dirty="0">
                <a:solidFill>
                  <a:srgbClr val="1B1B26"/>
                </a:solidFill>
                <a:latin typeface="Roboto"/>
                <a:cs typeface="Roboto"/>
              </a:rPr>
              <a:t>A</a:t>
            </a:r>
            <a:r>
              <a:rPr sz="5000" b="1" spc="-10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5000" b="1" dirty="0">
                <a:solidFill>
                  <a:srgbClr val="1B1B26"/>
                </a:solidFill>
                <a:latin typeface="Roboto"/>
                <a:cs typeface="Roboto"/>
              </a:rPr>
              <a:t>Cloud</a:t>
            </a:r>
            <a:r>
              <a:rPr sz="5000" b="1" spc="-10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5000" b="1" dirty="0">
                <a:solidFill>
                  <a:srgbClr val="1B1B26"/>
                </a:solidFill>
                <a:latin typeface="Roboto"/>
                <a:cs typeface="Roboto"/>
              </a:rPr>
              <a:t>Native</a:t>
            </a:r>
            <a:r>
              <a:rPr sz="5000" b="1" spc="-10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5000" b="1" dirty="0">
                <a:solidFill>
                  <a:srgbClr val="1B1B26"/>
                </a:solidFill>
                <a:latin typeface="Roboto"/>
                <a:cs typeface="Roboto"/>
              </a:rPr>
              <a:t>Approach</a:t>
            </a:r>
            <a:r>
              <a:rPr sz="5000" b="1" spc="-15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5000" b="1" dirty="0">
                <a:solidFill>
                  <a:srgbClr val="1B1B26"/>
                </a:solidFill>
                <a:latin typeface="Roboto"/>
                <a:cs typeface="Roboto"/>
              </a:rPr>
              <a:t>of</a:t>
            </a:r>
            <a:r>
              <a:rPr sz="5000" b="1" spc="-10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5000" b="1" dirty="0">
                <a:solidFill>
                  <a:srgbClr val="1B1B26"/>
                </a:solidFill>
                <a:latin typeface="Roboto"/>
                <a:cs typeface="Roboto"/>
              </a:rPr>
              <a:t>Energy</a:t>
            </a:r>
            <a:r>
              <a:rPr sz="5000" b="1" spc="-10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5000" b="1" dirty="0">
                <a:solidFill>
                  <a:srgbClr val="1B1B26"/>
                </a:solidFill>
                <a:latin typeface="Roboto"/>
                <a:cs typeface="Roboto"/>
              </a:rPr>
              <a:t>Monitoring</a:t>
            </a:r>
            <a:r>
              <a:rPr sz="5000" b="1" spc="-10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5000" b="1" dirty="0">
                <a:solidFill>
                  <a:srgbClr val="1B1B26"/>
                </a:solidFill>
                <a:latin typeface="Roboto"/>
                <a:cs typeface="Roboto"/>
              </a:rPr>
              <a:t>System</a:t>
            </a:r>
            <a:r>
              <a:rPr sz="5000" b="1" spc="-10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5000" b="1" spc="-20" dirty="0">
                <a:solidFill>
                  <a:srgbClr val="1B1B26"/>
                </a:solidFill>
                <a:latin typeface="Roboto"/>
                <a:cs typeface="Roboto"/>
              </a:rPr>
              <a:t>Using </a:t>
            </a:r>
            <a:r>
              <a:rPr sz="5000" b="1" dirty="0">
                <a:solidFill>
                  <a:srgbClr val="1B1B26"/>
                </a:solidFill>
                <a:latin typeface="Roboto"/>
                <a:cs typeface="Roboto"/>
              </a:rPr>
              <a:t>Microservices</a:t>
            </a:r>
            <a:r>
              <a:rPr sz="5000" b="1" spc="145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5000" b="1" spc="-10" dirty="0">
                <a:solidFill>
                  <a:srgbClr val="1B1B26"/>
                </a:solidFill>
                <a:latin typeface="Roboto"/>
                <a:cs typeface="Roboto"/>
              </a:rPr>
              <a:t>Architecture</a:t>
            </a:r>
            <a:endParaRPr sz="5000">
              <a:latin typeface="Roboto"/>
              <a:cs typeface="Robo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543614" y="9598559"/>
            <a:ext cx="13253719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10" dirty="0">
                <a:solidFill>
                  <a:srgbClr val="1B1B26"/>
                </a:solidFill>
                <a:latin typeface="Roboto"/>
                <a:cs typeface="Roboto"/>
              </a:rPr>
              <a:t>Corresponding</a:t>
            </a:r>
            <a:r>
              <a:rPr sz="3000" spc="-135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3000" spc="-10" dirty="0">
                <a:solidFill>
                  <a:srgbClr val="1B1B26"/>
                </a:solidFill>
                <a:latin typeface="Roboto"/>
                <a:cs typeface="Roboto"/>
              </a:rPr>
              <a:t>Authors:</a:t>
            </a:r>
            <a:r>
              <a:rPr sz="3000" spc="-135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3000" spc="-10" dirty="0">
                <a:solidFill>
                  <a:srgbClr val="1B1B26"/>
                </a:solidFill>
                <a:latin typeface="Roboto"/>
                <a:cs typeface="Roboto"/>
              </a:rPr>
              <a:t>Nguyen</a:t>
            </a:r>
            <a:r>
              <a:rPr sz="3000" spc="-135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3000" dirty="0">
                <a:solidFill>
                  <a:srgbClr val="1B1B26"/>
                </a:solidFill>
                <a:latin typeface="Roboto"/>
                <a:cs typeface="Roboto"/>
              </a:rPr>
              <a:t>Duc</a:t>
            </a:r>
            <a:r>
              <a:rPr sz="3000" spc="-135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3000" dirty="0">
                <a:solidFill>
                  <a:srgbClr val="1B1B26"/>
                </a:solidFill>
                <a:latin typeface="Roboto"/>
                <a:cs typeface="Roboto"/>
              </a:rPr>
              <a:t>Manh,</a:t>
            </a:r>
            <a:r>
              <a:rPr sz="3000" spc="-135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3000" dirty="0">
                <a:solidFill>
                  <a:srgbClr val="1B1B26"/>
                </a:solidFill>
                <a:latin typeface="Roboto"/>
                <a:cs typeface="Roboto"/>
              </a:rPr>
              <a:t>Bui</a:t>
            </a:r>
            <a:r>
              <a:rPr sz="3000" spc="-135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3000" spc="-20" dirty="0">
                <a:solidFill>
                  <a:srgbClr val="1B1B26"/>
                </a:solidFill>
                <a:latin typeface="Roboto"/>
                <a:cs typeface="Roboto"/>
              </a:rPr>
              <a:t>Quy</a:t>
            </a:r>
            <a:r>
              <a:rPr sz="3000" spc="-135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3000" spc="-10" dirty="0">
                <a:solidFill>
                  <a:srgbClr val="1B1B26"/>
                </a:solidFill>
                <a:latin typeface="Roboto"/>
                <a:cs typeface="Roboto"/>
              </a:rPr>
              <a:t>Duong,</a:t>
            </a:r>
            <a:r>
              <a:rPr sz="3000" spc="-135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3000" dirty="0">
                <a:solidFill>
                  <a:srgbClr val="1B1B26"/>
                </a:solidFill>
                <a:latin typeface="Roboto"/>
                <a:cs typeface="Roboto"/>
              </a:rPr>
              <a:t>Dr.</a:t>
            </a:r>
            <a:r>
              <a:rPr sz="3000" spc="-135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3000" dirty="0">
                <a:solidFill>
                  <a:srgbClr val="1B1B26"/>
                </a:solidFill>
                <a:latin typeface="Roboto"/>
                <a:cs typeface="Roboto"/>
              </a:rPr>
              <a:t>Ta</a:t>
            </a:r>
            <a:r>
              <a:rPr sz="3000" spc="-135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3000" dirty="0">
                <a:solidFill>
                  <a:srgbClr val="1B1B26"/>
                </a:solidFill>
                <a:latin typeface="Roboto"/>
                <a:cs typeface="Roboto"/>
              </a:rPr>
              <a:t>Quang</a:t>
            </a:r>
            <a:r>
              <a:rPr sz="3000" spc="-135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3000" spc="-20" dirty="0">
                <a:solidFill>
                  <a:srgbClr val="1B1B26"/>
                </a:solidFill>
                <a:latin typeface="Roboto"/>
                <a:cs typeface="Roboto"/>
              </a:rPr>
              <a:t>Ngoc</a:t>
            </a:r>
            <a:endParaRPr sz="3000">
              <a:latin typeface="Roboto"/>
              <a:cs typeface="Roboto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7594256" y="3288545"/>
            <a:ext cx="310007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spc="-20" dirty="0"/>
              <a:t>ICIS2025</a:t>
            </a:r>
            <a:endParaRPr sz="6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16000" y="968375"/>
            <a:ext cx="601091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spc="-40" dirty="0">
                <a:solidFill>
                  <a:srgbClr val="000000"/>
                </a:solidFill>
              </a:rPr>
              <a:t>Table</a:t>
            </a:r>
            <a:r>
              <a:rPr sz="6000" spc="-165" dirty="0">
                <a:solidFill>
                  <a:srgbClr val="000000"/>
                </a:solidFill>
              </a:rPr>
              <a:t> </a:t>
            </a:r>
            <a:r>
              <a:rPr sz="6000" spc="50" dirty="0">
                <a:solidFill>
                  <a:srgbClr val="000000"/>
                </a:solidFill>
              </a:rPr>
              <a:t>of</a:t>
            </a:r>
            <a:r>
              <a:rPr sz="6000" spc="-165" dirty="0">
                <a:solidFill>
                  <a:srgbClr val="000000"/>
                </a:solidFill>
              </a:rPr>
              <a:t> </a:t>
            </a:r>
            <a:r>
              <a:rPr sz="6000" spc="-10" dirty="0">
                <a:solidFill>
                  <a:srgbClr val="000000"/>
                </a:solidFill>
              </a:rPr>
              <a:t>Contents</a:t>
            </a:r>
            <a:endParaRPr sz="600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23594" indent="-810895">
              <a:lnSpc>
                <a:spcPct val="100000"/>
              </a:lnSpc>
              <a:spcBef>
                <a:spcPts val="100"/>
              </a:spcBef>
              <a:buAutoNum type="romanUcPeriod"/>
              <a:tabLst>
                <a:tab pos="823594" algn="l"/>
              </a:tabLst>
            </a:pPr>
            <a:r>
              <a:rPr spc="-10" dirty="0"/>
              <a:t>Introduction</a:t>
            </a:r>
          </a:p>
          <a:p>
            <a:pPr marL="839469" indent="-826769">
              <a:lnSpc>
                <a:spcPct val="100000"/>
              </a:lnSpc>
              <a:spcBef>
                <a:spcPts val="4950"/>
              </a:spcBef>
              <a:buAutoNum type="romanUcPeriod"/>
              <a:tabLst>
                <a:tab pos="839469" algn="l"/>
              </a:tabLst>
            </a:pPr>
            <a:r>
              <a:rPr spc="-20" dirty="0"/>
              <a:t>Previous</a:t>
            </a:r>
            <a:r>
              <a:rPr spc="-250" dirty="0"/>
              <a:t> </a:t>
            </a:r>
            <a:r>
              <a:rPr spc="-10" dirty="0"/>
              <a:t>Research</a:t>
            </a:r>
          </a:p>
          <a:p>
            <a:pPr marL="851535" indent="-838835">
              <a:lnSpc>
                <a:spcPct val="100000"/>
              </a:lnSpc>
              <a:spcBef>
                <a:spcPts val="4950"/>
              </a:spcBef>
              <a:buAutoNum type="romanUcPeriod"/>
              <a:tabLst>
                <a:tab pos="851535" algn="l"/>
              </a:tabLst>
            </a:pPr>
            <a:r>
              <a:rPr dirty="0"/>
              <a:t>Proposed</a:t>
            </a:r>
            <a:r>
              <a:rPr spc="-260" dirty="0"/>
              <a:t> </a:t>
            </a:r>
            <a:r>
              <a:rPr spc="-10" dirty="0"/>
              <a:t>Architecture</a:t>
            </a:r>
          </a:p>
          <a:p>
            <a:pPr marL="1070610" indent="-1057910">
              <a:lnSpc>
                <a:spcPct val="100000"/>
              </a:lnSpc>
              <a:spcBef>
                <a:spcPts val="4950"/>
              </a:spcBef>
              <a:buAutoNum type="romanUcPeriod"/>
              <a:tabLst>
                <a:tab pos="1070610" algn="l"/>
              </a:tabLst>
            </a:pPr>
            <a:r>
              <a:rPr spc="-25" dirty="0"/>
              <a:t>Results</a:t>
            </a:r>
            <a:r>
              <a:rPr spc="-235" dirty="0"/>
              <a:t> </a:t>
            </a:r>
            <a:r>
              <a:rPr dirty="0"/>
              <a:t>and</a:t>
            </a:r>
            <a:r>
              <a:rPr spc="-229" dirty="0"/>
              <a:t> </a:t>
            </a:r>
            <a:r>
              <a:rPr spc="-10" dirty="0"/>
              <a:t>Discussion</a:t>
            </a:r>
          </a:p>
          <a:p>
            <a:pPr marL="1054735" indent="-1042035">
              <a:lnSpc>
                <a:spcPct val="100000"/>
              </a:lnSpc>
              <a:spcBef>
                <a:spcPts val="4950"/>
              </a:spcBef>
              <a:buAutoNum type="romanUcPeriod"/>
              <a:tabLst>
                <a:tab pos="1054735" algn="l"/>
              </a:tabLst>
            </a:pPr>
            <a:r>
              <a:rPr spc="-20" dirty="0"/>
              <a:t>Conclusions</a:t>
            </a:r>
            <a:r>
              <a:rPr spc="-229" dirty="0"/>
              <a:t> </a:t>
            </a:r>
            <a:r>
              <a:rPr dirty="0"/>
              <a:t>and</a:t>
            </a:r>
            <a:r>
              <a:rPr spc="-229" dirty="0"/>
              <a:t> </a:t>
            </a:r>
            <a:r>
              <a:rPr spc="-10" dirty="0"/>
              <a:t>Future</a:t>
            </a:r>
            <a:r>
              <a:rPr spc="-225" dirty="0"/>
              <a:t> </a:t>
            </a:r>
            <a:r>
              <a:rPr spc="-10" dirty="0"/>
              <a:t>Research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7175">
              <a:lnSpc>
                <a:spcPct val="100000"/>
              </a:lnSpc>
              <a:spcBef>
                <a:spcPts val="100"/>
              </a:spcBef>
            </a:pPr>
            <a:r>
              <a:rPr sz="4000" dirty="0"/>
              <a:t>I.</a:t>
            </a:r>
            <a:r>
              <a:rPr sz="4000" spc="-85" dirty="0"/>
              <a:t> </a:t>
            </a:r>
            <a:r>
              <a:rPr sz="4000" spc="-40" dirty="0"/>
              <a:t>Introduction</a:t>
            </a:r>
            <a:endParaRPr sz="40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93625" y="275162"/>
            <a:ext cx="7964118" cy="974763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24359" y="1250013"/>
            <a:ext cx="7893684" cy="795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3685" indent="-265430">
              <a:lnSpc>
                <a:spcPct val="100000"/>
              </a:lnSpc>
              <a:spcBef>
                <a:spcPts val="100"/>
              </a:spcBef>
              <a:buSzPct val="96000"/>
              <a:buAutoNum type="arabicPeriod"/>
              <a:tabLst>
                <a:tab pos="273685" algn="l"/>
              </a:tabLst>
            </a:pPr>
            <a:r>
              <a:rPr sz="2500" dirty="0">
                <a:solidFill>
                  <a:srgbClr val="1B1B26"/>
                </a:solidFill>
                <a:latin typeface="Roboto"/>
                <a:cs typeface="Roboto"/>
              </a:rPr>
              <a:t>What</a:t>
            </a:r>
            <a:r>
              <a:rPr sz="2500" spc="-60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2500" dirty="0">
                <a:solidFill>
                  <a:srgbClr val="1B1B26"/>
                </a:solidFill>
                <a:latin typeface="Roboto"/>
                <a:cs typeface="Roboto"/>
              </a:rPr>
              <a:t>is</a:t>
            </a:r>
            <a:r>
              <a:rPr sz="2500" spc="-60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2500" spc="-20" dirty="0">
                <a:solidFill>
                  <a:srgbClr val="1B1B26"/>
                </a:solidFill>
                <a:latin typeface="Roboto"/>
                <a:cs typeface="Roboto"/>
              </a:rPr>
              <a:t>EMS?</a:t>
            </a:r>
            <a:endParaRPr sz="2500">
              <a:latin typeface="Roboto"/>
              <a:cs typeface="Roboto"/>
            </a:endParaRPr>
          </a:p>
          <a:p>
            <a:pPr marL="276225" lvl="1" indent="-185420">
              <a:lnSpc>
                <a:spcPct val="100000"/>
              </a:lnSpc>
              <a:spcBef>
                <a:spcPts val="1950"/>
              </a:spcBef>
              <a:buChar char="•"/>
              <a:tabLst>
                <a:tab pos="276225" algn="l"/>
              </a:tabLst>
            </a:pPr>
            <a:r>
              <a:rPr sz="2500" spc="-120" dirty="0">
                <a:solidFill>
                  <a:srgbClr val="1B1B26"/>
                </a:solidFill>
                <a:latin typeface="Roboto"/>
                <a:cs typeface="Roboto"/>
              </a:rPr>
              <a:t>Real-</a:t>
            </a:r>
            <a:r>
              <a:rPr sz="2500" dirty="0">
                <a:solidFill>
                  <a:srgbClr val="1B1B26"/>
                </a:solidFill>
                <a:latin typeface="Roboto"/>
                <a:cs typeface="Roboto"/>
              </a:rPr>
              <a:t>time</a:t>
            </a:r>
            <a:r>
              <a:rPr sz="2500" spc="-50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2500" spc="-20" dirty="0">
                <a:solidFill>
                  <a:srgbClr val="1B1B26"/>
                </a:solidFill>
                <a:latin typeface="Roboto"/>
                <a:cs typeface="Roboto"/>
              </a:rPr>
              <a:t>electricity</a:t>
            </a:r>
            <a:r>
              <a:rPr sz="2500" spc="-45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2500" spc="-20" dirty="0">
                <a:solidFill>
                  <a:srgbClr val="1B1B26"/>
                </a:solidFill>
                <a:latin typeface="Roboto"/>
                <a:cs typeface="Roboto"/>
              </a:rPr>
              <a:t>monitoring</a:t>
            </a:r>
            <a:r>
              <a:rPr sz="2500" spc="-50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2500" dirty="0">
                <a:solidFill>
                  <a:srgbClr val="1B1B26"/>
                </a:solidFill>
                <a:latin typeface="Roboto"/>
                <a:cs typeface="Roboto"/>
              </a:rPr>
              <a:t>&amp;</a:t>
            </a:r>
            <a:r>
              <a:rPr sz="2500" spc="-45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2500" spc="-20" dirty="0">
                <a:solidFill>
                  <a:srgbClr val="1B1B26"/>
                </a:solidFill>
                <a:latin typeface="Roboto"/>
                <a:cs typeface="Roboto"/>
              </a:rPr>
              <a:t>optimization</a:t>
            </a:r>
            <a:r>
              <a:rPr sz="2500" spc="-45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2500" spc="-10" dirty="0">
                <a:solidFill>
                  <a:srgbClr val="1B1B26"/>
                </a:solidFill>
                <a:latin typeface="Roboto"/>
                <a:cs typeface="Roboto"/>
              </a:rPr>
              <a:t>system</a:t>
            </a:r>
            <a:endParaRPr sz="2500">
              <a:latin typeface="Roboto"/>
              <a:cs typeface="Roboto"/>
            </a:endParaRPr>
          </a:p>
          <a:p>
            <a:pPr lvl="1">
              <a:lnSpc>
                <a:spcPct val="100000"/>
              </a:lnSpc>
              <a:buClr>
                <a:srgbClr val="1B1B26"/>
              </a:buClr>
              <a:buFont typeface="Roboto"/>
              <a:buChar char="•"/>
            </a:pPr>
            <a:endParaRPr sz="2500">
              <a:latin typeface="Roboto"/>
              <a:cs typeface="Roboto"/>
            </a:endParaRPr>
          </a:p>
          <a:p>
            <a:pPr lvl="1">
              <a:lnSpc>
                <a:spcPct val="100000"/>
              </a:lnSpc>
              <a:spcBef>
                <a:spcPts val="894"/>
              </a:spcBef>
              <a:buClr>
                <a:srgbClr val="1B1B26"/>
              </a:buClr>
              <a:buFont typeface="Roboto"/>
              <a:buChar char="•"/>
            </a:pPr>
            <a:endParaRPr sz="2500">
              <a:latin typeface="Roboto"/>
              <a:cs typeface="Roboto"/>
            </a:endParaRPr>
          </a:p>
          <a:p>
            <a:pPr marL="273685" indent="-265430">
              <a:lnSpc>
                <a:spcPct val="100000"/>
              </a:lnSpc>
              <a:buSzPct val="96000"/>
              <a:buAutoNum type="arabicPeriod"/>
              <a:tabLst>
                <a:tab pos="273685" algn="l"/>
              </a:tabLst>
            </a:pPr>
            <a:r>
              <a:rPr sz="2500" dirty="0">
                <a:solidFill>
                  <a:srgbClr val="1B1B26"/>
                </a:solidFill>
                <a:latin typeface="Roboto"/>
                <a:cs typeface="Roboto"/>
              </a:rPr>
              <a:t>EMS</a:t>
            </a:r>
            <a:r>
              <a:rPr sz="2500" spc="-20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2500" spc="-10" dirty="0">
                <a:solidFill>
                  <a:srgbClr val="1B1B26"/>
                </a:solidFill>
                <a:latin typeface="Roboto"/>
                <a:cs typeface="Roboto"/>
              </a:rPr>
              <a:t>Responsibilities:</a:t>
            </a:r>
            <a:endParaRPr sz="2500">
              <a:latin typeface="Roboto"/>
              <a:cs typeface="Roboto"/>
            </a:endParaRPr>
          </a:p>
          <a:p>
            <a:pPr marL="276225" lvl="1" indent="-185420">
              <a:lnSpc>
                <a:spcPct val="100000"/>
              </a:lnSpc>
              <a:spcBef>
                <a:spcPts val="1950"/>
              </a:spcBef>
              <a:buChar char="•"/>
              <a:tabLst>
                <a:tab pos="276225" algn="l"/>
              </a:tabLst>
            </a:pPr>
            <a:r>
              <a:rPr sz="2500" spc="-10" dirty="0">
                <a:solidFill>
                  <a:srgbClr val="1B1B26"/>
                </a:solidFill>
                <a:latin typeface="Roboto"/>
                <a:cs typeface="Roboto"/>
              </a:rPr>
              <a:t>Manage</a:t>
            </a:r>
            <a:r>
              <a:rPr sz="2500" spc="-90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2500" spc="-25" dirty="0">
                <a:solidFill>
                  <a:srgbClr val="1B1B26"/>
                </a:solidFill>
                <a:latin typeface="Roboto"/>
                <a:cs typeface="Roboto"/>
              </a:rPr>
              <a:t>generation,</a:t>
            </a:r>
            <a:r>
              <a:rPr sz="2500" spc="-85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2500" spc="-25" dirty="0">
                <a:solidFill>
                  <a:srgbClr val="1B1B26"/>
                </a:solidFill>
                <a:latin typeface="Roboto"/>
                <a:cs typeface="Roboto"/>
              </a:rPr>
              <a:t>transmission,</a:t>
            </a:r>
            <a:r>
              <a:rPr sz="2500" spc="-90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2500" spc="-10" dirty="0">
                <a:solidFill>
                  <a:srgbClr val="1B1B26"/>
                </a:solidFill>
                <a:latin typeface="Roboto"/>
                <a:cs typeface="Roboto"/>
              </a:rPr>
              <a:t>distribution</a:t>
            </a:r>
            <a:endParaRPr sz="2500">
              <a:latin typeface="Roboto"/>
              <a:cs typeface="Roboto"/>
            </a:endParaRPr>
          </a:p>
          <a:p>
            <a:pPr marL="276225" lvl="1" indent="-185420">
              <a:lnSpc>
                <a:spcPct val="100000"/>
              </a:lnSpc>
              <a:spcBef>
                <a:spcPts val="1950"/>
              </a:spcBef>
              <a:buChar char="•"/>
              <a:tabLst>
                <a:tab pos="276225" algn="l"/>
              </a:tabLst>
            </a:pPr>
            <a:r>
              <a:rPr sz="2500" spc="-25" dirty="0">
                <a:solidFill>
                  <a:srgbClr val="1B1B26"/>
                </a:solidFill>
                <a:latin typeface="Roboto"/>
                <a:cs typeface="Roboto"/>
              </a:rPr>
              <a:t>Prevent</a:t>
            </a:r>
            <a:r>
              <a:rPr sz="2500" spc="-100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2500" spc="-20" dirty="0">
                <a:solidFill>
                  <a:srgbClr val="1B1B26"/>
                </a:solidFill>
                <a:latin typeface="Roboto"/>
                <a:cs typeface="Roboto"/>
              </a:rPr>
              <a:t>blackouts,</a:t>
            </a:r>
            <a:r>
              <a:rPr sz="2500" spc="-95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2500" spc="-10" dirty="0">
                <a:solidFill>
                  <a:srgbClr val="1B1B26"/>
                </a:solidFill>
                <a:latin typeface="Roboto"/>
                <a:cs typeface="Roboto"/>
              </a:rPr>
              <a:t>reduce</a:t>
            </a:r>
            <a:r>
              <a:rPr sz="2500" spc="-100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2500" spc="-10" dirty="0">
                <a:solidFill>
                  <a:srgbClr val="1B1B26"/>
                </a:solidFill>
                <a:latin typeface="Roboto"/>
                <a:cs typeface="Roboto"/>
              </a:rPr>
              <a:t>costs</a:t>
            </a:r>
            <a:endParaRPr sz="2500">
              <a:latin typeface="Roboto"/>
              <a:cs typeface="Roboto"/>
            </a:endParaRPr>
          </a:p>
          <a:p>
            <a:pPr marL="276225" lvl="1" indent="-185420">
              <a:lnSpc>
                <a:spcPct val="100000"/>
              </a:lnSpc>
              <a:spcBef>
                <a:spcPts val="1950"/>
              </a:spcBef>
              <a:buChar char="•"/>
              <a:tabLst>
                <a:tab pos="276225" algn="l"/>
              </a:tabLst>
            </a:pPr>
            <a:r>
              <a:rPr sz="2500" spc="-20" dirty="0">
                <a:solidFill>
                  <a:srgbClr val="1B1B26"/>
                </a:solidFill>
                <a:latin typeface="Roboto"/>
                <a:cs typeface="Roboto"/>
              </a:rPr>
              <a:t>Predictive</a:t>
            </a:r>
            <a:r>
              <a:rPr sz="2500" spc="-90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2500" spc="-10" dirty="0">
                <a:solidFill>
                  <a:srgbClr val="1B1B26"/>
                </a:solidFill>
                <a:latin typeface="Roboto"/>
                <a:cs typeface="Roboto"/>
              </a:rPr>
              <a:t>maintenance</a:t>
            </a:r>
            <a:endParaRPr sz="2500">
              <a:latin typeface="Roboto"/>
              <a:cs typeface="Roboto"/>
            </a:endParaRPr>
          </a:p>
          <a:p>
            <a:pPr marL="276225" lvl="1" indent="-185420">
              <a:lnSpc>
                <a:spcPct val="100000"/>
              </a:lnSpc>
              <a:spcBef>
                <a:spcPts val="1950"/>
              </a:spcBef>
              <a:buChar char="•"/>
              <a:tabLst>
                <a:tab pos="276225" algn="l"/>
              </a:tabLst>
            </a:pPr>
            <a:r>
              <a:rPr sz="2500" spc="-10" dirty="0">
                <a:solidFill>
                  <a:srgbClr val="1B1B26"/>
                </a:solidFill>
                <a:latin typeface="Roboto"/>
                <a:cs typeface="Roboto"/>
              </a:rPr>
              <a:t>Support</a:t>
            </a:r>
            <a:r>
              <a:rPr sz="2500" spc="-95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2500" spc="-20" dirty="0">
                <a:solidFill>
                  <a:srgbClr val="1B1B26"/>
                </a:solidFill>
                <a:latin typeface="Roboto"/>
                <a:cs typeface="Roboto"/>
              </a:rPr>
              <a:t>renewable</a:t>
            </a:r>
            <a:r>
              <a:rPr sz="2500" spc="-95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2500" spc="-10" dirty="0">
                <a:solidFill>
                  <a:srgbClr val="1B1B26"/>
                </a:solidFill>
                <a:latin typeface="Roboto"/>
                <a:cs typeface="Roboto"/>
              </a:rPr>
              <a:t>energy</a:t>
            </a:r>
            <a:endParaRPr sz="2500">
              <a:latin typeface="Roboto"/>
              <a:cs typeface="Roboto"/>
            </a:endParaRPr>
          </a:p>
          <a:p>
            <a:pPr lvl="1">
              <a:lnSpc>
                <a:spcPct val="100000"/>
              </a:lnSpc>
              <a:buClr>
                <a:srgbClr val="1B1B26"/>
              </a:buClr>
              <a:buFont typeface="Roboto"/>
              <a:buChar char="•"/>
            </a:pPr>
            <a:endParaRPr sz="2500">
              <a:latin typeface="Roboto"/>
              <a:cs typeface="Roboto"/>
            </a:endParaRPr>
          </a:p>
          <a:p>
            <a:pPr lvl="1">
              <a:lnSpc>
                <a:spcPct val="100000"/>
              </a:lnSpc>
              <a:spcBef>
                <a:spcPts val="900"/>
              </a:spcBef>
              <a:buClr>
                <a:srgbClr val="1B1B26"/>
              </a:buClr>
              <a:buFont typeface="Roboto"/>
              <a:buChar char="•"/>
            </a:pPr>
            <a:endParaRPr sz="2500">
              <a:latin typeface="Roboto"/>
              <a:cs typeface="Roboto"/>
            </a:endParaRPr>
          </a:p>
          <a:p>
            <a:pPr marL="273685" indent="-265430">
              <a:lnSpc>
                <a:spcPct val="100000"/>
              </a:lnSpc>
              <a:buSzPct val="96000"/>
              <a:buAutoNum type="arabicPeriod"/>
              <a:tabLst>
                <a:tab pos="273685" algn="l"/>
              </a:tabLst>
            </a:pPr>
            <a:r>
              <a:rPr sz="2500" spc="-10" dirty="0">
                <a:solidFill>
                  <a:srgbClr val="1B1B26"/>
                </a:solidFill>
                <a:latin typeface="Roboto"/>
                <a:cs typeface="Roboto"/>
              </a:rPr>
              <a:t>Challenges</a:t>
            </a:r>
            <a:r>
              <a:rPr sz="2500" spc="-85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2500" dirty="0">
                <a:solidFill>
                  <a:srgbClr val="1B1B26"/>
                </a:solidFill>
                <a:latin typeface="Roboto"/>
                <a:cs typeface="Roboto"/>
              </a:rPr>
              <a:t>of</a:t>
            </a:r>
            <a:r>
              <a:rPr sz="2500" spc="-85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2500" spc="-10" dirty="0">
                <a:solidFill>
                  <a:srgbClr val="1B1B26"/>
                </a:solidFill>
                <a:latin typeface="Roboto"/>
                <a:cs typeface="Roboto"/>
              </a:rPr>
              <a:t>Monolithic</a:t>
            </a:r>
            <a:r>
              <a:rPr sz="2500" spc="-80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2500" spc="-20" dirty="0">
                <a:solidFill>
                  <a:srgbClr val="1B1B26"/>
                </a:solidFill>
                <a:latin typeface="Roboto"/>
                <a:cs typeface="Roboto"/>
              </a:rPr>
              <a:t>EMS:</a:t>
            </a:r>
            <a:endParaRPr sz="2500">
              <a:latin typeface="Roboto"/>
              <a:cs typeface="Roboto"/>
            </a:endParaRPr>
          </a:p>
          <a:p>
            <a:pPr marL="276225" lvl="1" indent="-185420">
              <a:lnSpc>
                <a:spcPct val="100000"/>
              </a:lnSpc>
              <a:spcBef>
                <a:spcPts val="1950"/>
              </a:spcBef>
              <a:buChar char="•"/>
              <a:tabLst>
                <a:tab pos="276225" algn="l"/>
              </a:tabLst>
            </a:pPr>
            <a:r>
              <a:rPr sz="2500" dirty="0">
                <a:solidFill>
                  <a:srgbClr val="1B1B26"/>
                </a:solidFill>
                <a:latin typeface="Roboto"/>
                <a:cs typeface="Roboto"/>
              </a:rPr>
              <a:t>Data</a:t>
            </a:r>
            <a:r>
              <a:rPr sz="2500" spc="-95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2500" spc="-10" dirty="0">
                <a:solidFill>
                  <a:srgbClr val="1B1B26"/>
                </a:solidFill>
                <a:latin typeface="Roboto"/>
                <a:cs typeface="Roboto"/>
              </a:rPr>
              <a:t>Overload</a:t>
            </a:r>
            <a:r>
              <a:rPr sz="2500" spc="-95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2500" dirty="0">
                <a:solidFill>
                  <a:srgbClr val="1B1B26"/>
                </a:solidFill>
                <a:latin typeface="Roboto"/>
                <a:cs typeface="Roboto"/>
              </a:rPr>
              <a:t>&amp;</a:t>
            </a:r>
            <a:r>
              <a:rPr sz="2500" spc="-90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2500" dirty="0">
                <a:solidFill>
                  <a:srgbClr val="1B1B26"/>
                </a:solidFill>
                <a:latin typeface="Roboto"/>
                <a:cs typeface="Roboto"/>
              </a:rPr>
              <a:t>Poor</a:t>
            </a:r>
            <a:r>
              <a:rPr sz="2500" spc="-95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2500" spc="-10" dirty="0">
                <a:solidFill>
                  <a:srgbClr val="1B1B26"/>
                </a:solidFill>
                <a:latin typeface="Roboto"/>
                <a:cs typeface="Roboto"/>
              </a:rPr>
              <a:t>Scaling</a:t>
            </a:r>
            <a:endParaRPr sz="2500">
              <a:latin typeface="Roboto"/>
              <a:cs typeface="Roboto"/>
            </a:endParaRPr>
          </a:p>
          <a:p>
            <a:pPr marL="276225" lvl="1" indent="-185420">
              <a:lnSpc>
                <a:spcPct val="100000"/>
              </a:lnSpc>
              <a:spcBef>
                <a:spcPts val="1950"/>
              </a:spcBef>
              <a:buChar char="•"/>
              <a:tabLst>
                <a:tab pos="276225" algn="l"/>
              </a:tabLst>
            </a:pPr>
            <a:r>
              <a:rPr sz="2500" dirty="0">
                <a:solidFill>
                  <a:srgbClr val="1B1B26"/>
                </a:solidFill>
                <a:latin typeface="Roboto"/>
                <a:cs typeface="Roboto"/>
              </a:rPr>
              <a:t>Fixed</a:t>
            </a:r>
            <a:r>
              <a:rPr sz="2500" spc="-105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2500" spc="-20" dirty="0">
                <a:solidFill>
                  <a:srgbClr val="1B1B26"/>
                </a:solidFill>
                <a:latin typeface="Roboto"/>
                <a:cs typeface="Roboto"/>
              </a:rPr>
              <a:t>Resource</a:t>
            </a:r>
            <a:r>
              <a:rPr sz="2500" spc="-105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2500" spc="-10" dirty="0">
                <a:solidFill>
                  <a:srgbClr val="1B1B26"/>
                </a:solidFill>
                <a:latin typeface="Roboto"/>
                <a:cs typeface="Roboto"/>
              </a:rPr>
              <a:t>Limits</a:t>
            </a:r>
            <a:endParaRPr sz="2500">
              <a:latin typeface="Roboto"/>
              <a:cs typeface="Roboto"/>
            </a:endParaRPr>
          </a:p>
          <a:p>
            <a:pPr marL="276225" lvl="1" indent="-185420">
              <a:lnSpc>
                <a:spcPct val="100000"/>
              </a:lnSpc>
              <a:spcBef>
                <a:spcPts val="1950"/>
              </a:spcBef>
              <a:buChar char="•"/>
              <a:tabLst>
                <a:tab pos="276225" algn="l"/>
              </a:tabLst>
            </a:pPr>
            <a:r>
              <a:rPr sz="2500" dirty="0">
                <a:solidFill>
                  <a:srgbClr val="1B1B26"/>
                </a:solidFill>
                <a:latin typeface="Roboto"/>
                <a:cs typeface="Roboto"/>
              </a:rPr>
              <a:t>Hard</a:t>
            </a:r>
            <a:r>
              <a:rPr sz="2500" spc="-75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2500" dirty="0">
                <a:solidFill>
                  <a:srgbClr val="1B1B26"/>
                </a:solidFill>
                <a:latin typeface="Roboto"/>
                <a:cs typeface="Roboto"/>
              </a:rPr>
              <a:t>to</a:t>
            </a:r>
            <a:r>
              <a:rPr sz="2500" spc="-70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2500" spc="-20" dirty="0">
                <a:solidFill>
                  <a:srgbClr val="1B1B26"/>
                </a:solidFill>
                <a:latin typeface="Roboto"/>
                <a:cs typeface="Roboto"/>
              </a:rPr>
              <a:t>Maintain</a:t>
            </a:r>
            <a:r>
              <a:rPr sz="2500" spc="-70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2500" dirty="0">
                <a:solidFill>
                  <a:srgbClr val="1B1B26"/>
                </a:solidFill>
                <a:latin typeface="Roboto"/>
                <a:cs typeface="Roboto"/>
              </a:rPr>
              <a:t>&amp;</a:t>
            </a:r>
            <a:r>
              <a:rPr sz="2500" spc="-75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2500" spc="-10" dirty="0">
                <a:solidFill>
                  <a:srgbClr val="1B1B26"/>
                </a:solidFill>
                <a:latin typeface="Roboto"/>
                <a:cs typeface="Roboto"/>
              </a:rPr>
              <a:t>Update</a:t>
            </a:r>
            <a:endParaRPr sz="25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38343" y="5312217"/>
            <a:ext cx="10150889" cy="390756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80681" y="362334"/>
            <a:ext cx="475615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dirty="0"/>
              <a:t>II.</a:t>
            </a:r>
            <a:r>
              <a:rPr sz="4000" spc="-155" dirty="0"/>
              <a:t> </a:t>
            </a:r>
            <a:r>
              <a:rPr sz="4000" spc="-25" dirty="0"/>
              <a:t>Previous</a:t>
            </a:r>
            <a:r>
              <a:rPr sz="4000" spc="-150" dirty="0"/>
              <a:t> </a:t>
            </a:r>
            <a:r>
              <a:rPr sz="4000" spc="-10" dirty="0"/>
              <a:t>Research</a:t>
            </a:r>
            <a:endParaRPr sz="4000"/>
          </a:p>
        </p:txBody>
      </p:sp>
      <p:sp>
        <p:nvSpPr>
          <p:cNvPr id="4" name="object 4"/>
          <p:cNvSpPr txBox="1"/>
          <p:nvPr/>
        </p:nvSpPr>
        <p:spPr>
          <a:xfrm>
            <a:off x="700500" y="1123094"/>
            <a:ext cx="10504170" cy="3863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3845" indent="-271145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283845" algn="l"/>
              </a:tabLst>
            </a:pPr>
            <a:r>
              <a:rPr sz="2000" dirty="0">
                <a:solidFill>
                  <a:srgbClr val="1B1B26"/>
                </a:solidFill>
                <a:latin typeface="Roboto"/>
                <a:cs typeface="Roboto"/>
              </a:rPr>
              <a:t>Adopted</a:t>
            </a:r>
            <a:r>
              <a:rPr sz="2000" spc="-50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2000" spc="-20" dirty="0">
                <a:solidFill>
                  <a:srgbClr val="1B1B26"/>
                </a:solidFill>
                <a:latin typeface="Roboto"/>
                <a:cs typeface="Roboto"/>
              </a:rPr>
              <a:t>Solution</a:t>
            </a:r>
            <a:r>
              <a:rPr sz="2000" spc="-45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2000" spc="-140" dirty="0">
                <a:solidFill>
                  <a:srgbClr val="1B1B26"/>
                </a:solidFill>
                <a:latin typeface="Roboto"/>
                <a:cs typeface="Roboto"/>
              </a:rPr>
              <a:t>(S-</a:t>
            </a:r>
            <a:r>
              <a:rPr sz="2000" dirty="0">
                <a:solidFill>
                  <a:srgbClr val="1B1B26"/>
                </a:solidFill>
                <a:latin typeface="Roboto"/>
                <a:cs typeface="Roboto"/>
              </a:rPr>
              <a:t>EMS</a:t>
            </a:r>
            <a:r>
              <a:rPr sz="2000" spc="-50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2000" spc="-10" dirty="0">
                <a:solidFill>
                  <a:srgbClr val="1B1B26"/>
                </a:solidFill>
                <a:latin typeface="Roboto"/>
                <a:cs typeface="Roboto"/>
              </a:rPr>
              <a:t>Approach)</a:t>
            </a:r>
            <a:endParaRPr sz="2000">
              <a:latin typeface="Roboto"/>
              <a:cs typeface="Roboto"/>
            </a:endParaRPr>
          </a:p>
          <a:p>
            <a:pPr marL="223520" lvl="1" indent="-147955">
              <a:lnSpc>
                <a:spcPct val="100000"/>
              </a:lnSpc>
              <a:spcBef>
                <a:spcPts val="1575"/>
              </a:spcBef>
              <a:buChar char="•"/>
              <a:tabLst>
                <a:tab pos="223520" algn="l"/>
              </a:tabLst>
            </a:pPr>
            <a:r>
              <a:rPr sz="2000" spc="-10" dirty="0">
                <a:solidFill>
                  <a:srgbClr val="1B1B26"/>
                </a:solidFill>
                <a:latin typeface="Roboto"/>
                <a:cs typeface="Roboto"/>
              </a:rPr>
              <a:t>Split</a:t>
            </a:r>
            <a:r>
              <a:rPr sz="2000" spc="-100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2000" spc="-10" dirty="0">
                <a:solidFill>
                  <a:srgbClr val="1B1B26"/>
                </a:solidFill>
                <a:latin typeface="Roboto"/>
                <a:cs typeface="Roboto"/>
              </a:rPr>
              <a:t>monolith</a:t>
            </a:r>
            <a:r>
              <a:rPr sz="2000" spc="-95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2000" dirty="0">
                <a:solidFill>
                  <a:srgbClr val="1B1B26"/>
                </a:solidFill>
                <a:latin typeface="Roboto"/>
                <a:cs typeface="Roboto"/>
              </a:rPr>
              <a:t>into</a:t>
            </a:r>
            <a:r>
              <a:rPr sz="2000" spc="-95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2000" spc="-20" dirty="0">
                <a:solidFill>
                  <a:srgbClr val="1B1B26"/>
                </a:solidFill>
                <a:latin typeface="Roboto"/>
                <a:cs typeface="Roboto"/>
              </a:rPr>
              <a:t>individual</a:t>
            </a:r>
            <a:r>
              <a:rPr sz="2000" spc="-100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2000" spc="-10" dirty="0">
                <a:solidFill>
                  <a:srgbClr val="1B1B26"/>
                </a:solidFill>
                <a:latin typeface="Roboto"/>
                <a:cs typeface="Roboto"/>
              </a:rPr>
              <a:t>services</a:t>
            </a:r>
            <a:endParaRPr sz="2000">
              <a:latin typeface="Roboto"/>
              <a:cs typeface="Roboto"/>
            </a:endParaRPr>
          </a:p>
          <a:p>
            <a:pPr marL="223520" lvl="1" indent="-147955">
              <a:lnSpc>
                <a:spcPct val="100000"/>
              </a:lnSpc>
              <a:spcBef>
                <a:spcPts val="1575"/>
              </a:spcBef>
              <a:buChar char="•"/>
              <a:tabLst>
                <a:tab pos="223520" algn="l"/>
              </a:tabLst>
            </a:pPr>
            <a:r>
              <a:rPr sz="2000" dirty="0">
                <a:solidFill>
                  <a:srgbClr val="1B1B26"/>
                </a:solidFill>
                <a:latin typeface="Roboto"/>
                <a:cs typeface="Roboto"/>
              </a:rPr>
              <a:t>Moved</a:t>
            </a:r>
            <a:r>
              <a:rPr sz="2000" spc="-70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2000" dirty="0">
                <a:solidFill>
                  <a:srgbClr val="1B1B26"/>
                </a:solidFill>
                <a:latin typeface="Roboto"/>
                <a:cs typeface="Roboto"/>
              </a:rPr>
              <a:t>to</a:t>
            </a:r>
            <a:r>
              <a:rPr sz="2000" spc="-65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2000" spc="-10" dirty="0">
                <a:solidFill>
                  <a:srgbClr val="1B1B26"/>
                </a:solidFill>
                <a:latin typeface="Roboto"/>
                <a:cs typeface="Roboto"/>
              </a:rPr>
              <a:t>Virtual</a:t>
            </a:r>
            <a:r>
              <a:rPr sz="2000" spc="-70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2000" spc="-20" dirty="0">
                <a:solidFill>
                  <a:srgbClr val="1B1B26"/>
                </a:solidFill>
                <a:latin typeface="Roboto"/>
                <a:cs typeface="Roboto"/>
              </a:rPr>
              <a:t>Private</a:t>
            </a:r>
            <a:r>
              <a:rPr sz="2000" spc="-65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2000" dirty="0">
                <a:solidFill>
                  <a:srgbClr val="1B1B26"/>
                </a:solidFill>
                <a:latin typeface="Roboto"/>
                <a:cs typeface="Roboto"/>
              </a:rPr>
              <a:t>Cloud</a:t>
            </a:r>
            <a:r>
              <a:rPr sz="2000" spc="-70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2000" spc="-10" dirty="0">
                <a:solidFill>
                  <a:srgbClr val="1B1B26"/>
                </a:solidFill>
                <a:latin typeface="Roboto"/>
                <a:cs typeface="Roboto"/>
              </a:rPr>
              <a:t>(VPC)</a:t>
            </a:r>
            <a:endParaRPr sz="2000">
              <a:latin typeface="Roboto"/>
              <a:cs typeface="Roboto"/>
            </a:endParaRPr>
          </a:p>
          <a:p>
            <a:pPr marL="223520" lvl="1" indent="-147955">
              <a:lnSpc>
                <a:spcPct val="100000"/>
              </a:lnSpc>
              <a:spcBef>
                <a:spcPts val="1575"/>
              </a:spcBef>
              <a:buChar char="•"/>
              <a:tabLst>
                <a:tab pos="223520" algn="l"/>
              </a:tabLst>
            </a:pPr>
            <a:r>
              <a:rPr sz="2000" dirty="0">
                <a:solidFill>
                  <a:srgbClr val="1B1B26"/>
                </a:solidFill>
                <a:latin typeface="Roboto"/>
                <a:cs typeface="Roboto"/>
              </a:rPr>
              <a:t>Used</a:t>
            </a:r>
            <a:r>
              <a:rPr sz="2000" spc="-75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2000" dirty="0">
                <a:solidFill>
                  <a:srgbClr val="1B1B26"/>
                </a:solidFill>
                <a:latin typeface="Roboto"/>
                <a:cs typeface="Roboto"/>
              </a:rPr>
              <a:t>Cloud</a:t>
            </a:r>
            <a:r>
              <a:rPr sz="2000" spc="-70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2000" spc="-20" dirty="0">
                <a:solidFill>
                  <a:srgbClr val="1B1B26"/>
                </a:solidFill>
                <a:latin typeface="Roboto"/>
                <a:cs typeface="Roboto"/>
              </a:rPr>
              <a:t>RDS</a:t>
            </a:r>
            <a:r>
              <a:rPr sz="2000" spc="-70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2000" spc="-10" dirty="0">
                <a:solidFill>
                  <a:srgbClr val="1B1B26"/>
                </a:solidFill>
                <a:latin typeface="Roboto"/>
                <a:cs typeface="Roboto"/>
              </a:rPr>
              <a:t>instead</a:t>
            </a:r>
            <a:r>
              <a:rPr sz="2000" spc="-70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2000" dirty="0">
                <a:solidFill>
                  <a:srgbClr val="1B1B26"/>
                </a:solidFill>
                <a:latin typeface="Roboto"/>
                <a:cs typeface="Roboto"/>
              </a:rPr>
              <a:t>of</a:t>
            </a:r>
            <a:r>
              <a:rPr sz="2000" spc="-75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2000" dirty="0">
                <a:solidFill>
                  <a:srgbClr val="1B1B26"/>
                </a:solidFill>
                <a:latin typeface="Roboto"/>
                <a:cs typeface="Roboto"/>
              </a:rPr>
              <a:t>local</a:t>
            </a:r>
            <a:r>
              <a:rPr sz="2000" spc="-70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2000" spc="-25" dirty="0">
                <a:solidFill>
                  <a:srgbClr val="1B1B26"/>
                </a:solidFill>
                <a:latin typeface="Roboto"/>
                <a:cs typeface="Roboto"/>
              </a:rPr>
              <a:t>DBs</a:t>
            </a:r>
            <a:endParaRPr sz="2000">
              <a:latin typeface="Roboto"/>
              <a:cs typeface="Roboto"/>
            </a:endParaRPr>
          </a:p>
          <a:p>
            <a:pPr marL="283845" indent="-271145">
              <a:lnSpc>
                <a:spcPct val="100000"/>
              </a:lnSpc>
              <a:spcBef>
                <a:spcPts val="1575"/>
              </a:spcBef>
              <a:buAutoNum type="arabicPeriod"/>
              <a:tabLst>
                <a:tab pos="283845" algn="l"/>
              </a:tabLst>
            </a:pPr>
            <a:r>
              <a:rPr sz="2000" spc="-20" dirty="0">
                <a:solidFill>
                  <a:srgbClr val="1B1B26"/>
                </a:solidFill>
                <a:latin typeface="Roboto"/>
                <a:cs typeface="Roboto"/>
              </a:rPr>
              <a:t>Remaining</a:t>
            </a:r>
            <a:r>
              <a:rPr sz="2000" spc="-60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2000" spc="-10" dirty="0">
                <a:solidFill>
                  <a:srgbClr val="1B1B26"/>
                </a:solidFill>
                <a:latin typeface="Roboto"/>
                <a:cs typeface="Roboto"/>
              </a:rPr>
              <a:t>Limitations</a:t>
            </a:r>
            <a:endParaRPr sz="2000">
              <a:latin typeface="Roboto"/>
              <a:cs typeface="Roboto"/>
            </a:endParaRPr>
          </a:p>
          <a:p>
            <a:pPr marL="223520" lvl="1" indent="-147955">
              <a:lnSpc>
                <a:spcPct val="100000"/>
              </a:lnSpc>
              <a:spcBef>
                <a:spcPts val="1575"/>
              </a:spcBef>
              <a:buChar char="•"/>
              <a:tabLst>
                <a:tab pos="223520" algn="l"/>
              </a:tabLst>
            </a:pPr>
            <a:r>
              <a:rPr sz="2000" spc="-10" dirty="0">
                <a:solidFill>
                  <a:srgbClr val="1B1B26"/>
                </a:solidFill>
                <a:latin typeface="Roboto"/>
                <a:cs typeface="Roboto"/>
              </a:rPr>
              <a:t>Still</a:t>
            </a:r>
            <a:r>
              <a:rPr sz="2000" spc="-70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2000" spc="-25" dirty="0">
                <a:solidFill>
                  <a:srgbClr val="1B1B26"/>
                </a:solidFill>
                <a:latin typeface="Roboto"/>
                <a:cs typeface="Roboto"/>
              </a:rPr>
              <a:t>tightly</a:t>
            </a:r>
            <a:r>
              <a:rPr sz="2000" spc="-70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2000" spc="-10" dirty="0">
                <a:solidFill>
                  <a:srgbClr val="1B1B26"/>
                </a:solidFill>
                <a:latin typeface="Roboto"/>
                <a:cs typeface="Roboto"/>
              </a:rPr>
              <a:t>coupled</a:t>
            </a:r>
            <a:r>
              <a:rPr sz="2000" spc="-70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2000" dirty="0">
                <a:solidFill>
                  <a:srgbClr val="1B1B26"/>
                </a:solidFill>
                <a:latin typeface="Roboto"/>
                <a:cs typeface="Roboto"/>
              </a:rPr>
              <a:t>–</a:t>
            </a:r>
            <a:r>
              <a:rPr sz="2000" spc="-70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2000" dirty="0">
                <a:solidFill>
                  <a:srgbClr val="1B1B26"/>
                </a:solidFill>
                <a:latin typeface="Roboto"/>
                <a:cs typeface="Roboto"/>
              </a:rPr>
              <a:t>one</a:t>
            </a:r>
            <a:r>
              <a:rPr sz="2000" spc="-70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2000" spc="-10" dirty="0">
                <a:solidFill>
                  <a:srgbClr val="1B1B26"/>
                </a:solidFill>
                <a:latin typeface="Roboto"/>
                <a:cs typeface="Roboto"/>
              </a:rPr>
              <a:t>service</a:t>
            </a:r>
            <a:r>
              <a:rPr sz="2000" spc="-70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2000" dirty="0">
                <a:solidFill>
                  <a:srgbClr val="1B1B26"/>
                </a:solidFill>
                <a:latin typeface="Roboto"/>
                <a:cs typeface="Roboto"/>
              </a:rPr>
              <a:t>fails</a:t>
            </a:r>
            <a:r>
              <a:rPr sz="2000" spc="-70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900" spc="1155" dirty="0">
                <a:solidFill>
                  <a:srgbClr val="1B1B26"/>
                </a:solidFill>
                <a:latin typeface="Lucida Sans Unicode"/>
                <a:cs typeface="Lucida Sans Unicode"/>
              </a:rPr>
              <a:t>→</a:t>
            </a:r>
            <a:r>
              <a:rPr sz="900" spc="145" dirty="0">
                <a:solidFill>
                  <a:srgbClr val="1B1B26"/>
                </a:solidFill>
                <a:latin typeface="Lucida Sans Unicode"/>
                <a:cs typeface="Lucida Sans Unicode"/>
              </a:rPr>
              <a:t> </a:t>
            </a:r>
            <a:r>
              <a:rPr sz="2000" dirty="0">
                <a:solidFill>
                  <a:srgbClr val="1B1B26"/>
                </a:solidFill>
                <a:latin typeface="Roboto"/>
                <a:cs typeface="Roboto"/>
              </a:rPr>
              <a:t>whole</a:t>
            </a:r>
            <a:r>
              <a:rPr sz="2000" spc="-65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2000" dirty="0">
                <a:solidFill>
                  <a:srgbClr val="1B1B26"/>
                </a:solidFill>
                <a:latin typeface="Roboto"/>
                <a:cs typeface="Roboto"/>
              </a:rPr>
              <a:t>app</a:t>
            </a:r>
            <a:r>
              <a:rPr sz="2000" spc="-70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2000" spc="-10" dirty="0">
                <a:solidFill>
                  <a:srgbClr val="1B1B26"/>
                </a:solidFill>
                <a:latin typeface="Roboto"/>
                <a:cs typeface="Roboto"/>
              </a:rPr>
              <a:t>affected</a:t>
            </a:r>
            <a:endParaRPr sz="2000">
              <a:latin typeface="Roboto"/>
              <a:cs typeface="Roboto"/>
            </a:endParaRPr>
          </a:p>
          <a:p>
            <a:pPr marL="223520" lvl="1" indent="-147955">
              <a:lnSpc>
                <a:spcPct val="100000"/>
              </a:lnSpc>
              <a:spcBef>
                <a:spcPts val="1575"/>
              </a:spcBef>
              <a:buChar char="•"/>
              <a:tabLst>
                <a:tab pos="223520" algn="l"/>
              </a:tabLst>
            </a:pPr>
            <a:r>
              <a:rPr sz="2000" spc="-20" dirty="0">
                <a:solidFill>
                  <a:srgbClr val="1B1B26"/>
                </a:solidFill>
                <a:latin typeface="Roboto"/>
                <a:cs typeface="Roboto"/>
              </a:rPr>
              <a:t>Scaling</a:t>
            </a:r>
            <a:r>
              <a:rPr sz="2000" spc="-70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2000" dirty="0">
                <a:solidFill>
                  <a:srgbClr val="1B1B26"/>
                </a:solidFill>
                <a:latin typeface="Roboto"/>
                <a:cs typeface="Roboto"/>
              </a:rPr>
              <a:t>is</a:t>
            </a:r>
            <a:r>
              <a:rPr sz="2000" spc="-70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2000" spc="-75" dirty="0">
                <a:solidFill>
                  <a:srgbClr val="1B1B26"/>
                </a:solidFill>
                <a:latin typeface="Roboto"/>
                <a:cs typeface="Roboto"/>
              </a:rPr>
              <a:t>coarse-</a:t>
            </a:r>
            <a:r>
              <a:rPr sz="2000" spc="-20" dirty="0">
                <a:solidFill>
                  <a:srgbClr val="1B1B26"/>
                </a:solidFill>
                <a:latin typeface="Roboto"/>
                <a:cs typeface="Roboto"/>
              </a:rPr>
              <a:t>grained</a:t>
            </a:r>
            <a:r>
              <a:rPr sz="2000" spc="-70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2000" dirty="0">
                <a:solidFill>
                  <a:srgbClr val="1B1B26"/>
                </a:solidFill>
                <a:latin typeface="Roboto"/>
                <a:cs typeface="Roboto"/>
              </a:rPr>
              <a:t>–</a:t>
            </a:r>
            <a:r>
              <a:rPr sz="2000" spc="-65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2000" dirty="0">
                <a:solidFill>
                  <a:srgbClr val="1B1B26"/>
                </a:solidFill>
                <a:latin typeface="Roboto"/>
                <a:cs typeface="Roboto"/>
              </a:rPr>
              <a:t>must</a:t>
            </a:r>
            <a:r>
              <a:rPr sz="2000" spc="-70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2000" dirty="0">
                <a:solidFill>
                  <a:srgbClr val="1B1B26"/>
                </a:solidFill>
                <a:latin typeface="Roboto"/>
                <a:cs typeface="Roboto"/>
              </a:rPr>
              <a:t>scale</a:t>
            </a:r>
            <a:r>
              <a:rPr sz="2000" spc="-70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2000" spc="-10" dirty="0">
                <a:solidFill>
                  <a:srgbClr val="1B1B26"/>
                </a:solidFill>
                <a:latin typeface="Roboto"/>
                <a:cs typeface="Roboto"/>
              </a:rPr>
              <a:t>entire</a:t>
            </a:r>
            <a:r>
              <a:rPr sz="2000" spc="-65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2000" dirty="0">
                <a:solidFill>
                  <a:srgbClr val="1B1B26"/>
                </a:solidFill>
                <a:latin typeface="Roboto"/>
                <a:cs typeface="Roboto"/>
              </a:rPr>
              <a:t>app</a:t>
            </a:r>
            <a:r>
              <a:rPr sz="2000" spc="-70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2000" dirty="0">
                <a:solidFill>
                  <a:srgbClr val="1B1B26"/>
                </a:solidFill>
                <a:latin typeface="Roboto"/>
                <a:cs typeface="Roboto"/>
              </a:rPr>
              <a:t>even</a:t>
            </a:r>
            <a:r>
              <a:rPr sz="2000" spc="-70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2000" dirty="0">
                <a:solidFill>
                  <a:srgbClr val="1B1B26"/>
                </a:solidFill>
                <a:latin typeface="Roboto"/>
                <a:cs typeface="Roboto"/>
              </a:rPr>
              <a:t>if</a:t>
            </a:r>
            <a:r>
              <a:rPr sz="2000" spc="-65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2000" dirty="0">
                <a:solidFill>
                  <a:srgbClr val="1B1B26"/>
                </a:solidFill>
                <a:latin typeface="Roboto"/>
                <a:cs typeface="Roboto"/>
              </a:rPr>
              <a:t>one</a:t>
            </a:r>
            <a:r>
              <a:rPr sz="2000" spc="-70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2000" spc="-10" dirty="0">
                <a:solidFill>
                  <a:srgbClr val="1B1B26"/>
                </a:solidFill>
                <a:latin typeface="Roboto"/>
                <a:cs typeface="Roboto"/>
              </a:rPr>
              <a:t>service</a:t>
            </a:r>
            <a:r>
              <a:rPr sz="2000" spc="-70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2000" dirty="0">
                <a:solidFill>
                  <a:srgbClr val="1B1B26"/>
                </a:solidFill>
                <a:latin typeface="Roboto"/>
                <a:cs typeface="Roboto"/>
              </a:rPr>
              <a:t>needs</a:t>
            </a:r>
            <a:r>
              <a:rPr sz="2000" spc="-65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2000" dirty="0">
                <a:solidFill>
                  <a:srgbClr val="1B1B26"/>
                </a:solidFill>
                <a:latin typeface="Roboto"/>
                <a:cs typeface="Roboto"/>
              </a:rPr>
              <a:t>more</a:t>
            </a:r>
            <a:r>
              <a:rPr sz="2000" spc="-70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2000" spc="-10" dirty="0">
                <a:solidFill>
                  <a:srgbClr val="1B1B26"/>
                </a:solidFill>
                <a:latin typeface="Roboto"/>
                <a:cs typeface="Roboto"/>
              </a:rPr>
              <a:t>resources</a:t>
            </a:r>
            <a:endParaRPr sz="2000">
              <a:latin typeface="Roboto"/>
              <a:cs typeface="Roboto"/>
            </a:endParaRPr>
          </a:p>
          <a:p>
            <a:pPr marL="223520" lvl="1" indent="-147955">
              <a:lnSpc>
                <a:spcPct val="100000"/>
              </a:lnSpc>
              <a:spcBef>
                <a:spcPts val="1575"/>
              </a:spcBef>
              <a:buChar char="•"/>
              <a:tabLst>
                <a:tab pos="223520" algn="l"/>
              </a:tabLst>
            </a:pPr>
            <a:r>
              <a:rPr sz="2000" dirty="0">
                <a:solidFill>
                  <a:srgbClr val="1B1B26"/>
                </a:solidFill>
                <a:latin typeface="Roboto"/>
                <a:cs typeface="Roboto"/>
              </a:rPr>
              <a:t>Cloud</a:t>
            </a:r>
            <a:r>
              <a:rPr sz="2000" spc="-70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2000" spc="-10" dirty="0">
                <a:solidFill>
                  <a:srgbClr val="1B1B26"/>
                </a:solidFill>
                <a:latin typeface="Roboto"/>
                <a:cs typeface="Roboto"/>
              </a:rPr>
              <a:t>benefits</a:t>
            </a:r>
            <a:r>
              <a:rPr sz="2000" spc="-70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2000" dirty="0">
                <a:solidFill>
                  <a:srgbClr val="1B1B26"/>
                </a:solidFill>
                <a:latin typeface="Roboto"/>
                <a:cs typeface="Roboto"/>
              </a:rPr>
              <a:t>not</a:t>
            </a:r>
            <a:r>
              <a:rPr sz="2000" spc="-65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2000" spc="-10" dirty="0">
                <a:solidFill>
                  <a:srgbClr val="1B1B26"/>
                </a:solidFill>
                <a:latin typeface="Roboto"/>
                <a:cs typeface="Roboto"/>
              </a:rPr>
              <a:t>fully</a:t>
            </a:r>
            <a:r>
              <a:rPr sz="2000" spc="-70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2000" spc="-10" dirty="0">
                <a:solidFill>
                  <a:srgbClr val="1B1B26"/>
                </a:solidFill>
                <a:latin typeface="Roboto"/>
                <a:cs typeface="Roboto"/>
              </a:rPr>
              <a:t>realized</a:t>
            </a:r>
            <a:endParaRPr sz="2000">
              <a:latin typeface="Roboto"/>
              <a:cs typeface="Robo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97195" y="9501931"/>
            <a:ext cx="1669034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1B1B26"/>
                </a:solidFill>
                <a:latin typeface="Roboto"/>
                <a:cs typeface="Roboto"/>
              </a:rPr>
              <a:t>*</a:t>
            </a:r>
            <a:r>
              <a:rPr sz="2000" spc="-55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2000" spc="-60" dirty="0">
                <a:solidFill>
                  <a:srgbClr val="1B1B26"/>
                </a:solidFill>
                <a:latin typeface="Roboto"/>
                <a:cs typeface="Roboto"/>
              </a:rPr>
              <a:t>Lyu,</a:t>
            </a:r>
            <a:r>
              <a:rPr sz="2000" spc="-55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2000" dirty="0">
                <a:solidFill>
                  <a:srgbClr val="1B1B26"/>
                </a:solidFill>
                <a:latin typeface="Roboto"/>
                <a:cs typeface="Roboto"/>
              </a:rPr>
              <a:t>Z.,</a:t>
            </a:r>
            <a:r>
              <a:rPr sz="2000" spc="-50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2000" dirty="0">
                <a:solidFill>
                  <a:srgbClr val="1B1B26"/>
                </a:solidFill>
                <a:latin typeface="Roboto"/>
                <a:cs typeface="Roboto"/>
              </a:rPr>
              <a:t>Wei,</a:t>
            </a:r>
            <a:r>
              <a:rPr sz="2000" spc="-55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2000" dirty="0">
                <a:solidFill>
                  <a:srgbClr val="1B1B26"/>
                </a:solidFill>
                <a:latin typeface="Roboto"/>
                <a:cs typeface="Roboto"/>
              </a:rPr>
              <a:t>H.,</a:t>
            </a:r>
            <a:r>
              <a:rPr sz="2000" spc="-50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2000" dirty="0">
                <a:solidFill>
                  <a:srgbClr val="1B1B26"/>
                </a:solidFill>
                <a:latin typeface="Roboto"/>
                <a:cs typeface="Roboto"/>
              </a:rPr>
              <a:t>Bai,</a:t>
            </a:r>
            <a:r>
              <a:rPr sz="2000" spc="-55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2000" dirty="0">
                <a:solidFill>
                  <a:srgbClr val="1B1B26"/>
                </a:solidFill>
                <a:latin typeface="Roboto"/>
                <a:cs typeface="Roboto"/>
              </a:rPr>
              <a:t>X.,</a:t>
            </a:r>
            <a:r>
              <a:rPr sz="2000" spc="-50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2000" dirty="0">
                <a:solidFill>
                  <a:srgbClr val="1B1B26"/>
                </a:solidFill>
                <a:latin typeface="Roboto"/>
                <a:cs typeface="Roboto"/>
              </a:rPr>
              <a:t>&amp;</a:t>
            </a:r>
            <a:r>
              <a:rPr sz="2000" spc="-55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2000" spc="-10" dirty="0">
                <a:solidFill>
                  <a:srgbClr val="1B1B26"/>
                </a:solidFill>
                <a:latin typeface="Roboto"/>
                <a:cs typeface="Roboto"/>
              </a:rPr>
              <a:t>Lian.</a:t>
            </a:r>
            <a:r>
              <a:rPr sz="2000" spc="-55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2000" spc="-50" dirty="0">
                <a:solidFill>
                  <a:srgbClr val="1B1B26"/>
                </a:solidFill>
                <a:latin typeface="Roboto"/>
                <a:cs typeface="Roboto"/>
              </a:rPr>
              <a:t>Microservice-</a:t>
            </a:r>
            <a:r>
              <a:rPr sz="2000" dirty="0">
                <a:solidFill>
                  <a:srgbClr val="1B1B26"/>
                </a:solidFill>
                <a:latin typeface="Roboto"/>
                <a:cs typeface="Roboto"/>
              </a:rPr>
              <a:t>Based</a:t>
            </a:r>
            <a:r>
              <a:rPr sz="2000" spc="-50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2000" spc="-20" dirty="0">
                <a:solidFill>
                  <a:srgbClr val="1B1B26"/>
                </a:solidFill>
                <a:latin typeface="Roboto"/>
                <a:cs typeface="Roboto"/>
              </a:rPr>
              <a:t>Architecture</a:t>
            </a:r>
            <a:r>
              <a:rPr sz="2000" spc="-55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2000" dirty="0">
                <a:solidFill>
                  <a:srgbClr val="1B1B26"/>
                </a:solidFill>
                <a:latin typeface="Roboto"/>
                <a:cs typeface="Roboto"/>
              </a:rPr>
              <a:t>for</a:t>
            </a:r>
            <a:r>
              <a:rPr sz="2000" spc="-50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2000" dirty="0">
                <a:solidFill>
                  <a:srgbClr val="1B1B26"/>
                </a:solidFill>
                <a:latin typeface="Roboto"/>
                <a:cs typeface="Roboto"/>
              </a:rPr>
              <a:t>an</a:t>
            </a:r>
            <a:r>
              <a:rPr sz="2000" spc="-55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2000" spc="-10" dirty="0">
                <a:solidFill>
                  <a:srgbClr val="1B1B26"/>
                </a:solidFill>
                <a:latin typeface="Roboto"/>
                <a:cs typeface="Roboto"/>
              </a:rPr>
              <a:t>Energy</a:t>
            </a:r>
            <a:r>
              <a:rPr sz="2000" spc="-50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2000" spc="-10" dirty="0">
                <a:solidFill>
                  <a:srgbClr val="1B1B26"/>
                </a:solidFill>
                <a:latin typeface="Roboto"/>
                <a:cs typeface="Roboto"/>
              </a:rPr>
              <a:t>Management</a:t>
            </a:r>
            <a:r>
              <a:rPr sz="2000" spc="-55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2000" spc="-20" dirty="0">
                <a:solidFill>
                  <a:srgbClr val="1B1B26"/>
                </a:solidFill>
                <a:latin typeface="Roboto"/>
                <a:cs typeface="Roboto"/>
              </a:rPr>
              <a:t>System.</a:t>
            </a:r>
            <a:r>
              <a:rPr sz="2000" spc="-50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2000" dirty="0">
                <a:solidFill>
                  <a:srgbClr val="1B1B26"/>
                </a:solidFill>
                <a:latin typeface="Roboto"/>
                <a:cs typeface="Roboto"/>
              </a:rPr>
              <a:t>IEEE</a:t>
            </a:r>
            <a:r>
              <a:rPr sz="2000" spc="-55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2000" spc="-20" dirty="0">
                <a:solidFill>
                  <a:srgbClr val="1B1B26"/>
                </a:solidFill>
                <a:latin typeface="Roboto"/>
                <a:cs typeface="Roboto"/>
              </a:rPr>
              <a:t>Systems</a:t>
            </a:r>
            <a:r>
              <a:rPr sz="2000" spc="-55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2000" spc="-10" dirty="0">
                <a:solidFill>
                  <a:srgbClr val="1B1B26"/>
                </a:solidFill>
                <a:latin typeface="Roboto"/>
                <a:cs typeface="Roboto"/>
              </a:rPr>
              <a:t>Journal,</a:t>
            </a:r>
            <a:r>
              <a:rPr sz="2000" spc="-50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2000" dirty="0">
                <a:solidFill>
                  <a:srgbClr val="1B1B26"/>
                </a:solidFill>
                <a:latin typeface="Roboto"/>
                <a:cs typeface="Roboto"/>
              </a:rPr>
              <a:t>14(4),</a:t>
            </a:r>
            <a:r>
              <a:rPr sz="2000" spc="-55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2000" spc="-20" dirty="0">
                <a:solidFill>
                  <a:srgbClr val="1B1B26"/>
                </a:solidFill>
                <a:latin typeface="Roboto"/>
                <a:cs typeface="Roboto"/>
              </a:rPr>
              <a:t>5489–5500,</a:t>
            </a:r>
            <a:r>
              <a:rPr sz="2000" spc="-50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2000" spc="-20" dirty="0">
                <a:solidFill>
                  <a:srgbClr val="1B1B26"/>
                </a:solidFill>
                <a:latin typeface="Roboto"/>
                <a:cs typeface="Roboto"/>
              </a:rPr>
              <a:t>2020.</a:t>
            </a:r>
            <a:endParaRPr sz="20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25686" y="258928"/>
            <a:ext cx="7990636" cy="983067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3204">
              <a:lnSpc>
                <a:spcPct val="100000"/>
              </a:lnSpc>
              <a:spcBef>
                <a:spcPts val="100"/>
              </a:spcBef>
            </a:pPr>
            <a:r>
              <a:rPr sz="4000" dirty="0"/>
              <a:t>III.</a:t>
            </a:r>
            <a:r>
              <a:rPr sz="4000" spc="-200" dirty="0"/>
              <a:t> </a:t>
            </a:r>
            <a:r>
              <a:rPr sz="4000" dirty="0"/>
              <a:t>Proposed</a:t>
            </a:r>
            <a:r>
              <a:rPr sz="4000" spc="-200" dirty="0"/>
              <a:t> </a:t>
            </a:r>
            <a:r>
              <a:rPr sz="4000" spc="-10" dirty="0"/>
              <a:t>Architecture</a:t>
            </a:r>
            <a:endParaRPr sz="4000"/>
          </a:p>
        </p:txBody>
      </p:sp>
      <p:sp>
        <p:nvSpPr>
          <p:cNvPr id="4" name="object 4"/>
          <p:cNvSpPr txBox="1"/>
          <p:nvPr/>
        </p:nvSpPr>
        <p:spPr>
          <a:xfrm>
            <a:off x="401279" y="1186846"/>
            <a:ext cx="7854315" cy="86474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935" indent="-234950">
              <a:lnSpc>
                <a:spcPct val="100000"/>
              </a:lnSpc>
              <a:spcBef>
                <a:spcPts val="100"/>
              </a:spcBef>
              <a:buSzPct val="95454"/>
              <a:buAutoNum type="arabicPeriod"/>
              <a:tabLst>
                <a:tab pos="241935" algn="l"/>
              </a:tabLst>
            </a:pPr>
            <a:r>
              <a:rPr sz="2200" spc="-35" dirty="0">
                <a:solidFill>
                  <a:srgbClr val="1B1B26"/>
                </a:solidFill>
                <a:latin typeface="Roboto"/>
                <a:cs typeface="Roboto"/>
              </a:rPr>
              <a:t>Key</a:t>
            </a:r>
            <a:r>
              <a:rPr sz="2200" spc="-85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2200" spc="-10" dirty="0">
                <a:solidFill>
                  <a:srgbClr val="1B1B26"/>
                </a:solidFill>
                <a:latin typeface="Roboto"/>
                <a:cs typeface="Roboto"/>
              </a:rPr>
              <a:t>Technologies</a:t>
            </a:r>
            <a:endParaRPr sz="2200">
              <a:latin typeface="Roboto"/>
              <a:cs typeface="Roboto"/>
            </a:endParaRPr>
          </a:p>
          <a:p>
            <a:pPr marL="244475" lvl="1" indent="-163195">
              <a:lnSpc>
                <a:spcPct val="100000"/>
              </a:lnSpc>
              <a:spcBef>
                <a:spcPts val="1710"/>
              </a:spcBef>
              <a:buChar char="•"/>
              <a:tabLst>
                <a:tab pos="244475" algn="l"/>
              </a:tabLst>
            </a:pPr>
            <a:r>
              <a:rPr sz="2200" spc="-10" dirty="0">
                <a:solidFill>
                  <a:srgbClr val="1B1B26"/>
                </a:solidFill>
                <a:latin typeface="Roboto"/>
                <a:cs typeface="Roboto"/>
              </a:rPr>
              <a:t>Microservices</a:t>
            </a:r>
            <a:r>
              <a:rPr sz="2200" spc="-65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2200" dirty="0">
                <a:solidFill>
                  <a:srgbClr val="1B1B26"/>
                </a:solidFill>
                <a:latin typeface="Roboto"/>
                <a:cs typeface="Roboto"/>
              </a:rPr>
              <a:t>(Docker)</a:t>
            </a:r>
            <a:r>
              <a:rPr sz="2200" spc="-60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2200" dirty="0">
                <a:solidFill>
                  <a:srgbClr val="1B1B26"/>
                </a:solidFill>
                <a:latin typeface="Roboto"/>
                <a:cs typeface="Roboto"/>
              </a:rPr>
              <a:t>+</a:t>
            </a:r>
            <a:r>
              <a:rPr sz="2200" spc="-60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2200" spc="-20" dirty="0">
                <a:solidFill>
                  <a:srgbClr val="1B1B26"/>
                </a:solidFill>
                <a:latin typeface="Roboto"/>
                <a:cs typeface="Roboto"/>
              </a:rPr>
              <a:t>Kubernetes</a:t>
            </a:r>
            <a:r>
              <a:rPr sz="2200" spc="-60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2200" spc="-10" dirty="0">
                <a:solidFill>
                  <a:srgbClr val="1B1B26"/>
                </a:solidFill>
                <a:latin typeface="Roboto"/>
                <a:cs typeface="Roboto"/>
              </a:rPr>
              <a:t>(DigitalOcean)</a:t>
            </a:r>
            <a:endParaRPr sz="2200">
              <a:latin typeface="Roboto"/>
              <a:cs typeface="Roboto"/>
            </a:endParaRPr>
          </a:p>
          <a:p>
            <a:pPr marL="244475" lvl="1" indent="-163195">
              <a:lnSpc>
                <a:spcPct val="100000"/>
              </a:lnSpc>
              <a:spcBef>
                <a:spcPts val="1710"/>
              </a:spcBef>
              <a:buChar char="•"/>
              <a:tabLst>
                <a:tab pos="244475" algn="l"/>
              </a:tabLst>
            </a:pPr>
            <a:r>
              <a:rPr sz="2200" dirty="0">
                <a:solidFill>
                  <a:srgbClr val="1B1B26"/>
                </a:solidFill>
                <a:latin typeface="Roboto"/>
                <a:cs typeface="Roboto"/>
              </a:rPr>
              <a:t>API</a:t>
            </a:r>
            <a:r>
              <a:rPr sz="2200" spc="-70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2200" spc="-20" dirty="0">
                <a:solidFill>
                  <a:srgbClr val="1B1B26"/>
                </a:solidFill>
                <a:latin typeface="Roboto"/>
                <a:cs typeface="Roboto"/>
              </a:rPr>
              <a:t>Gateway:</a:t>
            </a:r>
            <a:r>
              <a:rPr sz="2200" spc="-65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2200" dirty="0">
                <a:solidFill>
                  <a:srgbClr val="1B1B26"/>
                </a:solidFill>
                <a:latin typeface="Roboto"/>
                <a:cs typeface="Roboto"/>
              </a:rPr>
              <a:t>NGINX</a:t>
            </a:r>
            <a:r>
              <a:rPr sz="2200" spc="-70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2200" dirty="0">
                <a:solidFill>
                  <a:srgbClr val="1B1B26"/>
                </a:solidFill>
                <a:latin typeface="Roboto"/>
                <a:cs typeface="Roboto"/>
              </a:rPr>
              <a:t>(LB,</a:t>
            </a:r>
            <a:r>
              <a:rPr sz="2200" spc="-65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2200" spc="-20" dirty="0">
                <a:solidFill>
                  <a:srgbClr val="1B1B26"/>
                </a:solidFill>
                <a:latin typeface="Roboto"/>
                <a:cs typeface="Roboto"/>
              </a:rPr>
              <a:t>SSL,</a:t>
            </a:r>
            <a:r>
              <a:rPr sz="2200" spc="-70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2200" spc="-40" dirty="0">
                <a:solidFill>
                  <a:srgbClr val="1B1B26"/>
                </a:solidFill>
                <a:latin typeface="Roboto"/>
                <a:cs typeface="Roboto"/>
              </a:rPr>
              <a:t>Proxy,</a:t>
            </a:r>
            <a:r>
              <a:rPr sz="2200" spc="-65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2200" dirty="0">
                <a:solidFill>
                  <a:srgbClr val="1B1B26"/>
                </a:solidFill>
                <a:latin typeface="Roboto"/>
                <a:cs typeface="Roboto"/>
              </a:rPr>
              <a:t>Rate</a:t>
            </a:r>
            <a:r>
              <a:rPr sz="2200" spc="-70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2200" spc="-10" dirty="0">
                <a:solidFill>
                  <a:srgbClr val="1B1B26"/>
                </a:solidFill>
                <a:latin typeface="Roboto"/>
                <a:cs typeface="Roboto"/>
              </a:rPr>
              <a:t>Limiting)</a:t>
            </a:r>
            <a:endParaRPr sz="2200">
              <a:latin typeface="Roboto"/>
              <a:cs typeface="Roboto"/>
            </a:endParaRPr>
          </a:p>
          <a:p>
            <a:pPr marL="244475" lvl="1" indent="-163195">
              <a:lnSpc>
                <a:spcPct val="100000"/>
              </a:lnSpc>
              <a:spcBef>
                <a:spcPts val="1710"/>
              </a:spcBef>
              <a:buChar char="•"/>
              <a:tabLst>
                <a:tab pos="244475" algn="l"/>
              </a:tabLst>
            </a:pPr>
            <a:r>
              <a:rPr sz="2200" dirty="0">
                <a:solidFill>
                  <a:srgbClr val="1B1B26"/>
                </a:solidFill>
                <a:latin typeface="Roboto"/>
                <a:cs typeface="Roboto"/>
              </a:rPr>
              <a:t>CI/CD:</a:t>
            </a:r>
            <a:r>
              <a:rPr sz="2200" spc="-70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2200" spc="-10" dirty="0">
                <a:solidFill>
                  <a:srgbClr val="1B1B26"/>
                </a:solidFill>
                <a:latin typeface="Roboto"/>
                <a:cs typeface="Roboto"/>
              </a:rPr>
              <a:t>Jenkins</a:t>
            </a:r>
            <a:r>
              <a:rPr sz="2200" spc="-70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2200" spc="-10" dirty="0">
                <a:solidFill>
                  <a:srgbClr val="1B1B26"/>
                </a:solidFill>
                <a:latin typeface="Roboto"/>
                <a:cs typeface="Roboto"/>
              </a:rPr>
              <a:t>Pipeline</a:t>
            </a:r>
            <a:endParaRPr sz="2200">
              <a:latin typeface="Roboto"/>
              <a:cs typeface="Roboto"/>
            </a:endParaRPr>
          </a:p>
          <a:p>
            <a:pPr marL="244475" lvl="1" indent="-163195">
              <a:lnSpc>
                <a:spcPct val="100000"/>
              </a:lnSpc>
              <a:spcBef>
                <a:spcPts val="1710"/>
              </a:spcBef>
              <a:buChar char="•"/>
              <a:tabLst>
                <a:tab pos="244475" algn="l"/>
              </a:tabLst>
            </a:pPr>
            <a:r>
              <a:rPr sz="2200" spc="-10" dirty="0">
                <a:solidFill>
                  <a:srgbClr val="1B1B26"/>
                </a:solidFill>
                <a:latin typeface="Roboto"/>
                <a:cs typeface="Roboto"/>
              </a:rPr>
              <a:t>Data:</a:t>
            </a:r>
            <a:r>
              <a:rPr sz="2200" spc="-85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2200" spc="-20" dirty="0">
                <a:solidFill>
                  <a:srgbClr val="1B1B26"/>
                </a:solidFill>
                <a:latin typeface="Roboto"/>
                <a:cs typeface="Roboto"/>
              </a:rPr>
              <a:t>MongoDB</a:t>
            </a:r>
            <a:r>
              <a:rPr sz="2200" spc="-85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2200" spc="-10" dirty="0">
                <a:solidFill>
                  <a:srgbClr val="1B1B26"/>
                </a:solidFill>
                <a:latin typeface="Roboto"/>
                <a:cs typeface="Roboto"/>
              </a:rPr>
              <a:t>(devices/logs),</a:t>
            </a:r>
            <a:r>
              <a:rPr sz="2200" spc="-85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2200" dirty="0">
                <a:solidFill>
                  <a:srgbClr val="1B1B26"/>
                </a:solidFill>
                <a:latin typeface="Roboto"/>
                <a:cs typeface="Roboto"/>
              </a:rPr>
              <a:t>Redis</a:t>
            </a:r>
            <a:r>
              <a:rPr sz="2200" spc="-85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2200" spc="-10" dirty="0">
                <a:solidFill>
                  <a:srgbClr val="1B1B26"/>
                </a:solidFill>
                <a:latin typeface="Roboto"/>
                <a:cs typeface="Roboto"/>
              </a:rPr>
              <a:t>(cache/session)</a:t>
            </a:r>
            <a:endParaRPr sz="2200">
              <a:latin typeface="Roboto"/>
              <a:cs typeface="Roboto"/>
            </a:endParaRPr>
          </a:p>
          <a:p>
            <a:pPr marL="244475" lvl="1" indent="-163195">
              <a:lnSpc>
                <a:spcPct val="100000"/>
              </a:lnSpc>
              <a:spcBef>
                <a:spcPts val="1710"/>
              </a:spcBef>
              <a:buChar char="•"/>
              <a:tabLst>
                <a:tab pos="244475" algn="l"/>
              </a:tabLst>
            </a:pPr>
            <a:r>
              <a:rPr sz="2200" spc="-10" dirty="0">
                <a:solidFill>
                  <a:srgbClr val="1B1B26"/>
                </a:solidFill>
                <a:latin typeface="Roboto"/>
                <a:cs typeface="Roboto"/>
              </a:rPr>
              <a:t>Backend:</a:t>
            </a:r>
            <a:r>
              <a:rPr sz="2200" spc="-85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2200" dirty="0">
                <a:solidFill>
                  <a:srgbClr val="1B1B26"/>
                </a:solidFill>
                <a:latin typeface="Roboto"/>
                <a:cs typeface="Roboto"/>
              </a:rPr>
              <a:t>Node.js,</a:t>
            </a:r>
            <a:r>
              <a:rPr sz="2200" spc="-85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2200" spc="-20" dirty="0">
                <a:solidFill>
                  <a:srgbClr val="1B1B26"/>
                </a:solidFill>
                <a:latin typeface="Roboto"/>
                <a:cs typeface="Roboto"/>
              </a:rPr>
              <a:t>Python</a:t>
            </a:r>
            <a:r>
              <a:rPr sz="2200" spc="-80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2200" dirty="0">
                <a:solidFill>
                  <a:srgbClr val="1B1B26"/>
                </a:solidFill>
                <a:latin typeface="Roboto"/>
                <a:cs typeface="Roboto"/>
              </a:rPr>
              <a:t>3.x,</a:t>
            </a:r>
            <a:r>
              <a:rPr sz="2200" spc="-85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2200" dirty="0">
                <a:solidFill>
                  <a:srgbClr val="1B1B26"/>
                </a:solidFill>
                <a:latin typeface="Roboto"/>
                <a:cs typeface="Roboto"/>
              </a:rPr>
              <a:t>PHP</a:t>
            </a:r>
            <a:r>
              <a:rPr sz="2200" spc="-80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2200" spc="-20" dirty="0">
                <a:solidFill>
                  <a:srgbClr val="1B1B26"/>
                </a:solidFill>
                <a:latin typeface="Roboto"/>
                <a:cs typeface="Roboto"/>
              </a:rPr>
              <a:t>7.4+</a:t>
            </a:r>
            <a:endParaRPr sz="2200">
              <a:latin typeface="Roboto"/>
              <a:cs typeface="Roboto"/>
            </a:endParaRPr>
          </a:p>
          <a:p>
            <a:pPr marL="244475" lvl="1" indent="-163195">
              <a:lnSpc>
                <a:spcPct val="100000"/>
              </a:lnSpc>
              <a:spcBef>
                <a:spcPts val="1710"/>
              </a:spcBef>
              <a:buChar char="•"/>
              <a:tabLst>
                <a:tab pos="244475" algn="l"/>
              </a:tabLst>
            </a:pPr>
            <a:r>
              <a:rPr sz="2200" spc="-20" dirty="0">
                <a:solidFill>
                  <a:srgbClr val="1B1B26"/>
                </a:solidFill>
                <a:latin typeface="Roboto"/>
                <a:cs typeface="Roboto"/>
              </a:rPr>
              <a:t>Frontend:</a:t>
            </a:r>
            <a:r>
              <a:rPr sz="2200" spc="-90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2200" dirty="0">
                <a:solidFill>
                  <a:srgbClr val="1B1B26"/>
                </a:solidFill>
                <a:latin typeface="Roboto"/>
                <a:cs typeface="Roboto"/>
              </a:rPr>
              <a:t>HTML5,</a:t>
            </a:r>
            <a:r>
              <a:rPr sz="2200" spc="-85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2200" dirty="0">
                <a:solidFill>
                  <a:srgbClr val="1B1B26"/>
                </a:solidFill>
                <a:latin typeface="Roboto"/>
                <a:cs typeface="Roboto"/>
              </a:rPr>
              <a:t>CSS3,</a:t>
            </a:r>
            <a:r>
              <a:rPr sz="2200" spc="-90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2200" dirty="0">
                <a:solidFill>
                  <a:srgbClr val="1B1B26"/>
                </a:solidFill>
                <a:latin typeface="Roboto"/>
                <a:cs typeface="Roboto"/>
              </a:rPr>
              <a:t>JS,</a:t>
            </a:r>
            <a:r>
              <a:rPr sz="2200" spc="-85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2200" spc="-10" dirty="0">
                <a:solidFill>
                  <a:srgbClr val="1B1B26"/>
                </a:solidFill>
                <a:latin typeface="Roboto"/>
                <a:cs typeface="Roboto"/>
              </a:rPr>
              <a:t>Bootstrap</a:t>
            </a:r>
            <a:endParaRPr sz="2200">
              <a:latin typeface="Roboto"/>
              <a:cs typeface="Roboto"/>
            </a:endParaRPr>
          </a:p>
          <a:p>
            <a:pPr marL="244475" lvl="1" indent="-163195">
              <a:lnSpc>
                <a:spcPct val="100000"/>
              </a:lnSpc>
              <a:spcBef>
                <a:spcPts val="1710"/>
              </a:spcBef>
              <a:buChar char="•"/>
              <a:tabLst>
                <a:tab pos="244475" algn="l"/>
              </a:tabLst>
            </a:pPr>
            <a:r>
              <a:rPr sz="2200" dirty="0">
                <a:solidFill>
                  <a:srgbClr val="1B1B26"/>
                </a:solidFill>
                <a:latin typeface="Roboto"/>
                <a:cs typeface="Roboto"/>
              </a:rPr>
              <a:t>IoT:</a:t>
            </a:r>
            <a:r>
              <a:rPr sz="2200" spc="-140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2200" spc="-55" dirty="0">
                <a:solidFill>
                  <a:srgbClr val="1B1B26"/>
                </a:solidFill>
                <a:latin typeface="Roboto"/>
                <a:cs typeface="Roboto"/>
              </a:rPr>
              <a:t>Tuya,</a:t>
            </a:r>
            <a:r>
              <a:rPr sz="2200" spc="-80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2200" spc="-20" dirty="0">
                <a:solidFill>
                  <a:srgbClr val="1B1B26"/>
                </a:solidFill>
                <a:latin typeface="Roboto"/>
                <a:cs typeface="Roboto"/>
              </a:rPr>
              <a:t>Tapo,</a:t>
            </a:r>
            <a:r>
              <a:rPr sz="2200" spc="-75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2200" dirty="0">
                <a:solidFill>
                  <a:srgbClr val="1B1B26"/>
                </a:solidFill>
                <a:latin typeface="Roboto"/>
                <a:cs typeface="Roboto"/>
              </a:rPr>
              <a:t>GPS</a:t>
            </a:r>
            <a:r>
              <a:rPr sz="2200" spc="-70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2200" spc="-10" dirty="0">
                <a:solidFill>
                  <a:srgbClr val="1B1B26"/>
                </a:solidFill>
                <a:latin typeface="Roboto"/>
                <a:cs typeface="Roboto"/>
              </a:rPr>
              <a:t>Serial</a:t>
            </a:r>
            <a:r>
              <a:rPr sz="2200" spc="-75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2200" dirty="0">
                <a:solidFill>
                  <a:srgbClr val="1B1B26"/>
                </a:solidFill>
                <a:latin typeface="Roboto"/>
                <a:cs typeface="Roboto"/>
              </a:rPr>
              <a:t>|</a:t>
            </a:r>
            <a:r>
              <a:rPr sz="2200" spc="-70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2200" spc="-10" dirty="0">
                <a:solidFill>
                  <a:srgbClr val="1B1B26"/>
                </a:solidFill>
                <a:latin typeface="Roboto"/>
                <a:cs typeface="Roboto"/>
              </a:rPr>
              <a:t>Protocols:</a:t>
            </a:r>
            <a:r>
              <a:rPr sz="2200" spc="-70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2200" dirty="0">
                <a:solidFill>
                  <a:srgbClr val="1B1B26"/>
                </a:solidFill>
                <a:latin typeface="Roboto"/>
                <a:cs typeface="Roboto"/>
              </a:rPr>
              <a:t>HTTP/S,</a:t>
            </a:r>
            <a:r>
              <a:rPr sz="2200" spc="-75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2200" spc="-55" dirty="0">
                <a:solidFill>
                  <a:srgbClr val="1B1B26"/>
                </a:solidFill>
                <a:latin typeface="Roboto"/>
                <a:cs typeface="Roboto"/>
              </a:rPr>
              <a:t>MQTT,</a:t>
            </a:r>
            <a:r>
              <a:rPr sz="2200" spc="-70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2200" spc="-130" dirty="0">
                <a:solidFill>
                  <a:srgbClr val="1B1B26"/>
                </a:solidFill>
                <a:latin typeface="Roboto"/>
                <a:cs typeface="Roboto"/>
              </a:rPr>
              <a:t>Wi-</a:t>
            </a:r>
            <a:r>
              <a:rPr sz="2200" spc="-25" dirty="0">
                <a:solidFill>
                  <a:srgbClr val="1B1B26"/>
                </a:solidFill>
                <a:latin typeface="Roboto"/>
                <a:cs typeface="Roboto"/>
              </a:rPr>
              <a:t>Fi</a:t>
            </a:r>
            <a:endParaRPr sz="2200">
              <a:latin typeface="Roboto"/>
              <a:cs typeface="Roboto"/>
            </a:endParaRPr>
          </a:p>
          <a:p>
            <a:pPr marL="241935" indent="-234950">
              <a:lnSpc>
                <a:spcPct val="100000"/>
              </a:lnSpc>
              <a:spcBef>
                <a:spcPts val="1710"/>
              </a:spcBef>
              <a:buSzPct val="95454"/>
              <a:buAutoNum type="arabicPeriod"/>
              <a:tabLst>
                <a:tab pos="241935" algn="l"/>
              </a:tabLst>
            </a:pPr>
            <a:r>
              <a:rPr sz="2200" spc="-20" dirty="0">
                <a:solidFill>
                  <a:srgbClr val="1B1B26"/>
                </a:solidFill>
                <a:latin typeface="Roboto"/>
                <a:cs typeface="Roboto"/>
              </a:rPr>
              <a:t>System</a:t>
            </a:r>
            <a:r>
              <a:rPr sz="2200" spc="-75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2200" spc="-10" dirty="0">
                <a:solidFill>
                  <a:srgbClr val="1B1B26"/>
                </a:solidFill>
                <a:latin typeface="Roboto"/>
                <a:cs typeface="Roboto"/>
              </a:rPr>
              <a:t>Structure</a:t>
            </a:r>
            <a:endParaRPr sz="2200">
              <a:latin typeface="Roboto"/>
              <a:cs typeface="Roboto"/>
            </a:endParaRPr>
          </a:p>
          <a:p>
            <a:pPr marL="244475" lvl="1" indent="-163195">
              <a:lnSpc>
                <a:spcPct val="100000"/>
              </a:lnSpc>
              <a:spcBef>
                <a:spcPts val="1710"/>
              </a:spcBef>
              <a:buChar char="•"/>
              <a:tabLst>
                <a:tab pos="244475" algn="l"/>
              </a:tabLst>
            </a:pPr>
            <a:r>
              <a:rPr sz="2200" dirty="0">
                <a:solidFill>
                  <a:srgbClr val="1B1B26"/>
                </a:solidFill>
                <a:latin typeface="Roboto"/>
                <a:cs typeface="Roboto"/>
              </a:rPr>
              <a:t>User</a:t>
            </a:r>
            <a:r>
              <a:rPr sz="2200" spc="-50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1000" spc="1255" dirty="0">
                <a:solidFill>
                  <a:srgbClr val="1B1B26"/>
                </a:solidFill>
                <a:latin typeface="Lucida Sans Unicode"/>
                <a:cs typeface="Lucida Sans Unicode"/>
              </a:rPr>
              <a:t>→</a:t>
            </a:r>
            <a:r>
              <a:rPr sz="1000" spc="175" dirty="0">
                <a:solidFill>
                  <a:srgbClr val="1B1B26"/>
                </a:solidFill>
                <a:latin typeface="Lucida Sans Unicode"/>
                <a:cs typeface="Lucida Sans Unicode"/>
              </a:rPr>
              <a:t> </a:t>
            </a:r>
            <a:r>
              <a:rPr sz="2200" dirty="0">
                <a:solidFill>
                  <a:srgbClr val="1B1B26"/>
                </a:solidFill>
                <a:latin typeface="Roboto"/>
                <a:cs typeface="Roboto"/>
              </a:rPr>
              <a:t>API</a:t>
            </a:r>
            <a:r>
              <a:rPr sz="2200" spc="-45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2200" spc="-20" dirty="0">
                <a:solidFill>
                  <a:srgbClr val="1B1B26"/>
                </a:solidFill>
                <a:latin typeface="Roboto"/>
                <a:cs typeface="Roboto"/>
              </a:rPr>
              <a:t>Gateway</a:t>
            </a:r>
            <a:r>
              <a:rPr sz="2200" spc="-50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2200" dirty="0">
                <a:solidFill>
                  <a:srgbClr val="1B1B26"/>
                </a:solidFill>
                <a:latin typeface="Roboto"/>
                <a:cs typeface="Roboto"/>
              </a:rPr>
              <a:t>(port</a:t>
            </a:r>
            <a:r>
              <a:rPr sz="2200" spc="-45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2200" spc="-10" dirty="0">
                <a:solidFill>
                  <a:srgbClr val="1B1B26"/>
                </a:solidFill>
                <a:latin typeface="Roboto"/>
                <a:cs typeface="Roboto"/>
              </a:rPr>
              <a:t>80/443)</a:t>
            </a:r>
            <a:endParaRPr sz="2200">
              <a:latin typeface="Roboto"/>
              <a:cs typeface="Roboto"/>
            </a:endParaRPr>
          </a:p>
          <a:p>
            <a:pPr marL="244475" lvl="1" indent="-163195">
              <a:lnSpc>
                <a:spcPct val="100000"/>
              </a:lnSpc>
              <a:spcBef>
                <a:spcPts val="1710"/>
              </a:spcBef>
              <a:buChar char="•"/>
              <a:tabLst>
                <a:tab pos="244475" algn="l"/>
              </a:tabLst>
            </a:pPr>
            <a:r>
              <a:rPr sz="2200" dirty="0">
                <a:solidFill>
                  <a:srgbClr val="1B1B26"/>
                </a:solidFill>
                <a:latin typeface="Roboto"/>
                <a:cs typeface="Roboto"/>
              </a:rPr>
              <a:t>API</a:t>
            </a:r>
            <a:r>
              <a:rPr sz="2200" spc="-65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2200" spc="-20" dirty="0">
                <a:solidFill>
                  <a:srgbClr val="1B1B26"/>
                </a:solidFill>
                <a:latin typeface="Roboto"/>
                <a:cs typeface="Roboto"/>
              </a:rPr>
              <a:t>Gateway</a:t>
            </a:r>
            <a:r>
              <a:rPr sz="2200" spc="-60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2200" spc="-10" dirty="0">
                <a:solidFill>
                  <a:srgbClr val="1B1B26"/>
                </a:solidFill>
                <a:latin typeface="Roboto"/>
                <a:cs typeface="Roboto"/>
              </a:rPr>
              <a:t>routes</a:t>
            </a:r>
            <a:r>
              <a:rPr sz="2200" spc="-60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2200" spc="-10" dirty="0">
                <a:solidFill>
                  <a:srgbClr val="1B1B26"/>
                </a:solidFill>
                <a:latin typeface="Roboto"/>
                <a:cs typeface="Roboto"/>
              </a:rPr>
              <a:t>requests</a:t>
            </a:r>
            <a:r>
              <a:rPr sz="2200" spc="-60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2200" spc="-20" dirty="0">
                <a:solidFill>
                  <a:srgbClr val="1B1B26"/>
                </a:solidFill>
                <a:latin typeface="Roboto"/>
                <a:cs typeface="Roboto"/>
              </a:rPr>
              <a:t>securely</a:t>
            </a:r>
            <a:r>
              <a:rPr sz="2200" spc="-60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2200" dirty="0">
                <a:solidFill>
                  <a:srgbClr val="1B1B26"/>
                </a:solidFill>
                <a:latin typeface="Roboto"/>
                <a:cs typeface="Roboto"/>
              </a:rPr>
              <a:t>to</a:t>
            </a:r>
            <a:r>
              <a:rPr sz="2200" spc="-60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2200" spc="-10" dirty="0">
                <a:solidFill>
                  <a:srgbClr val="1B1B26"/>
                </a:solidFill>
                <a:latin typeface="Roboto"/>
                <a:cs typeface="Roboto"/>
              </a:rPr>
              <a:t>services</a:t>
            </a:r>
            <a:endParaRPr sz="2200">
              <a:latin typeface="Roboto"/>
              <a:cs typeface="Roboto"/>
            </a:endParaRPr>
          </a:p>
          <a:p>
            <a:pPr marL="12700" marR="5080" lvl="1" indent="231775">
              <a:lnSpc>
                <a:spcPct val="164800"/>
              </a:lnSpc>
              <a:buChar char="•"/>
              <a:tabLst>
                <a:tab pos="244475" algn="l"/>
              </a:tabLst>
            </a:pPr>
            <a:r>
              <a:rPr sz="2200" spc="-10" dirty="0">
                <a:solidFill>
                  <a:srgbClr val="1B1B26"/>
                </a:solidFill>
                <a:latin typeface="Roboto"/>
                <a:cs typeface="Roboto"/>
              </a:rPr>
              <a:t>Microservices</a:t>
            </a:r>
            <a:r>
              <a:rPr sz="2200" spc="-105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2200" spc="-20" dirty="0">
                <a:solidFill>
                  <a:srgbClr val="1B1B26"/>
                </a:solidFill>
                <a:latin typeface="Roboto"/>
                <a:cs typeface="Roboto"/>
              </a:rPr>
              <a:t>Layer</a:t>
            </a:r>
            <a:r>
              <a:rPr sz="2200" spc="-100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2200" spc="-10" dirty="0">
                <a:solidFill>
                  <a:srgbClr val="1B1B26"/>
                </a:solidFill>
                <a:latin typeface="Roboto"/>
                <a:cs typeface="Roboto"/>
              </a:rPr>
              <a:t>(independent</a:t>
            </a:r>
            <a:r>
              <a:rPr sz="2200" spc="-100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2200" spc="-10" dirty="0">
                <a:solidFill>
                  <a:srgbClr val="1B1B26"/>
                </a:solidFill>
                <a:latin typeface="Roboto"/>
                <a:cs typeface="Roboto"/>
              </a:rPr>
              <a:t>scaling):</a:t>
            </a:r>
            <a:r>
              <a:rPr sz="2200" spc="-105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2200" dirty="0">
                <a:solidFill>
                  <a:srgbClr val="1B1B26"/>
                </a:solidFill>
                <a:latin typeface="Roboto"/>
                <a:cs typeface="Roboto"/>
              </a:rPr>
              <a:t>UI,</a:t>
            </a:r>
            <a:r>
              <a:rPr sz="2200" spc="-100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2200" spc="-10" dirty="0">
                <a:solidFill>
                  <a:srgbClr val="1B1B26"/>
                </a:solidFill>
                <a:latin typeface="Roboto"/>
                <a:cs typeface="Roboto"/>
              </a:rPr>
              <a:t>Analytics,</a:t>
            </a:r>
            <a:r>
              <a:rPr sz="2200" spc="-100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2200" spc="-20" dirty="0">
                <a:solidFill>
                  <a:srgbClr val="1B1B26"/>
                </a:solidFill>
                <a:latin typeface="Roboto"/>
                <a:cs typeface="Roboto"/>
              </a:rPr>
              <a:t>Data </a:t>
            </a:r>
            <a:r>
              <a:rPr sz="2200" dirty="0">
                <a:solidFill>
                  <a:srgbClr val="1B1B26"/>
                </a:solidFill>
                <a:latin typeface="Roboto"/>
                <a:cs typeface="Roboto"/>
              </a:rPr>
              <a:t>Collection,</a:t>
            </a:r>
            <a:r>
              <a:rPr sz="2200" spc="-95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2200" spc="-10" dirty="0">
                <a:solidFill>
                  <a:srgbClr val="1B1B26"/>
                </a:solidFill>
                <a:latin typeface="Roboto"/>
                <a:cs typeface="Roboto"/>
              </a:rPr>
              <a:t>Device</a:t>
            </a:r>
            <a:r>
              <a:rPr sz="2200" spc="-90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2200" dirty="0">
                <a:solidFill>
                  <a:srgbClr val="1B1B26"/>
                </a:solidFill>
                <a:latin typeface="Roboto"/>
                <a:cs typeface="Roboto"/>
              </a:rPr>
              <a:t>Control,</a:t>
            </a:r>
            <a:r>
              <a:rPr sz="2200" spc="-90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2200" spc="-20" dirty="0">
                <a:solidFill>
                  <a:srgbClr val="1B1B26"/>
                </a:solidFill>
                <a:latin typeface="Roboto"/>
                <a:cs typeface="Roboto"/>
              </a:rPr>
              <a:t>MongoDB,</a:t>
            </a:r>
            <a:r>
              <a:rPr sz="2200" spc="-90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2200" spc="-10" dirty="0">
                <a:solidFill>
                  <a:srgbClr val="1B1B26"/>
                </a:solidFill>
                <a:latin typeface="Roboto"/>
                <a:cs typeface="Roboto"/>
              </a:rPr>
              <a:t>Notification</a:t>
            </a:r>
            <a:endParaRPr sz="2200">
              <a:latin typeface="Roboto"/>
              <a:cs typeface="Roboto"/>
            </a:endParaRPr>
          </a:p>
          <a:p>
            <a:pPr marL="244475" lvl="1" indent="-163195">
              <a:lnSpc>
                <a:spcPct val="100000"/>
              </a:lnSpc>
              <a:spcBef>
                <a:spcPts val="1710"/>
              </a:spcBef>
              <a:buChar char="•"/>
              <a:tabLst>
                <a:tab pos="244475" algn="l"/>
              </a:tabLst>
            </a:pPr>
            <a:r>
              <a:rPr sz="2200" spc="-10" dirty="0">
                <a:solidFill>
                  <a:srgbClr val="1B1B26"/>
                </a:solidFill>
                <a:latin typeface="Roboto"/>
                <a:cs typeface="Roboto"/>
              </a:rPr>
              <a:t>Data</a:t>
            </a:r>
            <a:r>
              <a:rPr sz="2200" spc="-70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2200" spc="-25" dirty="0">
                <a:solidFill>
                  <a:srgbClr val="1B1B26"/>
                </a:solidFill>
                <a:latin typeface="Roboto"/>
                <a:cs typeface="Roboto"/>
              </a:rPr>
              <a:t>Layer:</a:t>
            </a:r>
            <a:r>
              <a:rPr sz="2200" spc="-65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2200" spc="-20" dirty="0">
                <a:solidFill>
                  <a:srgbClr val="1B1B26"/>
                </a:solidFill>
                <a:latin typeface="Roboto"/>
                <a:cs typeface="Roboto"/>
              </a:rPr>
              <a:t>MongoDB</a:t>
            </a:r>
            <a:r>
              <a:rPr sz="2200" spc="-65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2200" dirty="0">
                <a:solidFill>
                  <a:srgbClr val="1B1B26"/>
                </a:solidFill>
                <a:latin typeface="Roboto"/>
                <a:cs typeface="Roboto"/>
              </a:rPr>
              <a:t>+</a:t>
            </a:r>
            <a:r>
              <a:rPr sz="2200" spc="-65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2200" spc="-10" dirty="0">
                <a:solidFill>
                  <a:srgbClr val="1B1B26"/>
                </a:solidFill>
                <a:latin typeface="Roboto"/>
                <a:cs typeface="Roboto"/>
              </a:rPr>
              <a:t>Redis</a:t>
            </a:r>
            <a:endParaRPr sz="2200">
              <a:latin typeface="Roboto"/>
              <a:cs typeface="Roboto"/>
            </a:endParaRPr>
          </a:p>
          <a:p>
            <a:pPr marL="244475" lvl="1" indent="-163195">
              <a:lnSpc>
                <a:spcPct val="100000"/>
              </a:lnSpc>
              <a:spcBef>
                <a:spcPts val="1710"/>
              </a:spcBef>
              <a:buChar char="•"/>
              <a:tabLst>
                <a:tab pos="244475" algn="l"/>
              </a:tabLst>
            </a:pPr>
            <a:r>
              <a:rPr sz="2200" spc="-10" dirty="0">
                <a:solidFill>
                  <a:srgbClr val="1B1B26"/>
                </a:solidFill>
                <a:latin typeface="Roboto"/>
                <a:cs typeface="Roboto"/>
              </a:rPr>
              <a:t>Infra:</a:t>
            </a:r>
            <a:r>
              <a:rPr sz="2200" spc="-50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2200" spc="-10" dirty="0">
                <a:solidFill>
                  <a:srgbClr val="1B1B26"/>
                </a:solidFill>
                <a:latin typeface="Roboto"/>
                <a:cs typeface="Roboto"/>
              </a:rPr>
              <a:t>Jenkins,</a:t>
            </a:r>
            <a:r>
              <a:rPr sz="2200" spc="-50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2200" dirty="0">
                <a:solidFill>
                  <a:srgbClr val="1B1B26"/>
                </a:solidFill>
                <a:latin typeface="Roboto"/>
                <a:cs typeface="Roboto"/>
              </a:rPr>
              <a:t>K8s,</a:t>
            </a:r>
            <a:r>
              <a:rPr sz="2200" spc="-50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2200" spc="-90" dirty="0">
                <a:solidFill>
                  <a:srgbClr val="1B1B26"/>
                </a:solidFill>
                <a:latin typeface="Roboto"/>
                <a:cs typeface="Roboto"/>
              </a:rPr>
              <a:t>multi-</a:t>
            </a:r>
            <a:r>
              <a:rPr sz="2200" dirty="0">
                <a:solidFill>
                  <a:srgbClr val="1B1B26"/>
                </a:solidFill>
                <a:latin typeface="Roboto"/>
                <a:cs typeface="Roboto"/>
              </a:rPr>
              <a:t>zone</a:t>
            </a:r>
            <a:r>
              <a:rPr sz="2200" spc="-45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2200" dirty="0">
                <a:solidFill>
                  <a:srgbClr val="1B1B26"/>
                </a:solidFill>
                <a:latin typeface="Roboto"/>
                <a:cs typeface="Roboto"/>
              </a:rPr>
              <a:t>HA</a:t>
            </a:r>
            <a:r>
              <a:rPr sz="2200" spc="-50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2200" spc="-10" dirty="0">
                <a:solidFill>
                  <a:srgbClr val="1B1B26"/>
                </a:solidFill>
                <a:latin typeface="Roboto"/>
                <a:cs typeface="Roboto"/>
              </a:rPr>
              <a:t>(k=2)</a:t>
            </a:r>
            <a:endParaRPr sz="22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710"/>
              </a:spcBef>
            </a:pPr>
            <a:r>
              <a:rPr sz="1000" spc="1255" dirty="0">
                <a:solidFill>
                  <a:srgbClr val="1B1B26"/>
                </a:solidFill>
                <a:latin typeface="Lucida Sans Unicode"/>
                <a:cs typeface="Lucida Sans Unicode"/>
              </a:rPr>
              <a:t>→</a:t>
            </a:r>
            <a:r>
              <a:rPr sz="1000" spc="175" dirty="0">
                <a:solidFill>
                  <a:srgbClr val="1B1B26"/>
                </a:solidFill>
                <a:latin typeface="Lucida Sans Unicode"/>
                <a:cs typeface="Lucida Sans Unicode"/>
              </a:rPr>
              <a:t> </a:t>
            </a:r>
            <a:r>
              <a:rPr sz="2200" dirty="0">
                <a:solidFill>
                  <a:srgbClr val="1B1B26"/>
                </a:solidFill>
                <a:latin typeface="Roboto"/>
                <a:cs typeface="Roboto"/>
              </a:rPr>
              <a:t>Refer</a:t>
            </a:r>
            <a:r>
              <a:rPr sz="2200" spc="-50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2200" dirty="0">
                <a:solidFill>
                  <a:srgbClr val="1B1B26"/>
                </a:solidFill>
                <a:latin typeface="Roboto"/>
                <a:cs typeface="Roboto"/>
              </a:rPr>
              <a:t>to</a:t>
            </a:r>
            <a:r>
              <a:rPr sz="2200" spc="-50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2200" spc="-20" dirty="0">
                <a:solidFill>
                  <a:srgbClr val="1B1B26"/>
                </a:solidFill>
                <a:latin typeface="Roboto"/>
                <a:cs typeface="Roboto"/>
              </a:rPr>
              <a:t>diagram</a:t>
            </a:r>
            <a:r>
              <a:rPr sz="2200" spc="-45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2200" dirty="0">
                <a:solidFill>
                  <a:srgbClr val="1B1B26"/>
                </a:solidFill>
                <a:latin typeface="Roboto"/>
                <a:cs typeface="Roboto"/>
              </a:rPr>
              <a:t>for</a:t>
            </a:r>
            <a:r>
              <a:rPr sz="2200" spc="-50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2200" dirty="0">
                <a:solidFill>
                  <a:srgbClr val="1B1B26"/>
                </a:solidFill>
                <a:latin typeface="Roboto"/>
                <a:cs typeface="Roboto"/>
              </a:rPr>
              <a:t>full</a:t>
            </a:r>
            <a:r>
              <a:rPr sz="2200" spc="-50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2200" dirty="0">
                <a:solidFill>
                  <a:srgbClr val="1B1B26"/>
                </a:solidFill>
                <a:latin typeface="Roboto"/>
                <a:cs typeface="Roboto"/>
              </a:rPr>
              <a:t>data</a:t>
            </a:r>
            <a:r>
              <a:rPr sz="2200" spc="-50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2200" dirty="0">
                <a:solidFill>
                  <a:srgbClr val="1B1B26"/>
                </a:solidFill>
                <a:latin typeface="Roboto"/>
                <a:cs typeface="Roboto"/>
              </a:rPr>
              <a:t>flow</a:t>
            </a:r>
            <a:r>
              <a:rPr sz="2200" spc="-50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2200" dirty="0">
                <a:solidFill>
                  <a:srgbClr val="1B1B26"/>
                </a:solidFill>
                <a:latin typeface="Roboto"/>
                <a:cs typeface="Roboto"/>
              </a:rPr>
              <a:t>and</a:t>
            </a:r>
            <a:r>
              <a:rPr sz="2200" spc="-45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2200" dirty="0">
                <a:solidFill>
                  <a:srgbClr val="1B1B26"/>
                </a:solidFill>
                <a:latin typeface="Roboto"/>
                <a:cs typeface="Roboto"/>
              </a:rPr>
              <a:t>port</a:t>
            </a:r>
            <a:r>
              <a:rPr sz="2200" spc="-50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2200" spc="-10" dirty="0">
                <a:solidFill>
                  <a:srgbClr val="1B1B26"/>
                </a:solidFill>
                <a:latin typeface="Roboto"/>
                <a:cs typeface="Roboto"/>
              </a:rPr>
              <a:t>mappings</a:t>
            </a:r>
            <a:endParaRPr sz="22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0804" y="360621"/>
            <a:ext cx="599694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dirty="0"/>
              <a:t>IV.</a:t>
            </a:r>
            <a:r>
              <a:rPr sz="4000" spc="-145" dirty="0"/>
              <a:t> </a:t>
            </a:r>
            <a:r>
              <a:rPr sz="4000" spc="-30" dirty="0"/>
              <a:t>Results</a:t>
            </a:r>
            <a:r>
              <a:rPr sz="4000" spc="-145" dirty="0"/>
              <a:t> </a:t>
            </a:r>
            <a:r>
              <a:rPr sz="4000" dirty="0"/>
              <a:t>and</a:t>
            </a:r>
            <a:r>
              <a:rPr sz="4000" spc="-145" dirty="0"/>
              <a:t> </a:t>
            </a:r>
            <a:r>
              <a:rPr sz="4000" spc="-20" dirty="0"/>
              <a:t>Discussion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2800821" y="2651900"/>
            <a:ext cx="4206240" cy="1263650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sz="2500" spc="-25" dirty="0">
                <a:solidFill>
                  <a:srgbClr val="3C3838"/>
                </a:solidFill>
                <a:latin typeface="Roboto"/>
                <a:cs typeface="Roboto"/>
              </a:rPr>
              <a:t>Analyzing</a:t>
            </a:r>
            <a:r>
              <a:rPr sz="2500" spc="-110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2500" dirty="0">
                <a:solidFill>
                  <a:srgbClr val="3C3838"/>
                </a:solidFill>
                <a:latin typeface="Roboto"/>
                <a:cs typeface="Roboto"/>
              </a:rPr>
              <a:t>the</a:t>
            </a:r>
            <a:r>
              <a:rPr sz="2500" spc="-105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2500" spc="-10" dirty="0">
                <a:solidFill>
                  <a:srgbClr val="3C3838"/>
                </a:solidFill>
                <a:latin typeface="Roboto"/>
                <a:cs typeface="Roboto"/>
              </a:rPr>
              <a:t>existing</a:t>
            </a:r>
            <a:r>
              <a:rPr sz="2500" spc="-110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2500" spc="-10" dirty="0">
                <a:solidFill>
                  <a:srgbClr val="3C3838"/>
                </a:solidFill>
                <a:latin typeface="Roboto"/>
                <a:cs typeface="Roboto"/>
              </a:rPr>
              <a:t>system</a:t>
            </a:r>
            <a:endParaRPr sz="2500">
              <a:latin typeface="Roboto"/>
              <a:cs typeface="Roboto"/>
            </a:endParaRPr>
          </a:p>
          <a:p>
            <a:pPr marL="1067435" marR="5080" indent="-397510">
              <a:lnSpc>
                <a:spcPts val="3150"/>
              </a:lnSpc>
            </a:pPr>
            <a:r>
              <a:rPr sz="2000" i="1" spc="-40" dirty="0">
                <a:solidFill>
                  <a:srgbClr val="3C3838"/>
                </a:solidFill>
                <a:latin typeface="Roboto"/>
                <a:cs typeface="Roboto"/>
              </a:rPr>
              <a:t>Identifying</a:t>
            </a:r>
            <a:r>
              <a:rPr sz="2000" i="1" spc="-65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2000" i="1" spc="-20" dirty="0">
                <a:solidFill>
                  <a:srgbClr val="3C3838"/>
                </a:solidFill>
                <a:latin typeface="Roboto"/>
                <a:cs typeface="Roboto"/>
              </a:rPr>
              <a:t>key</a:t>
            </a:r>
            <a:r>
              <a:rPr sz="2000" i="1" spc="-60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2000" i="1" spc="-40" dirty="0">
                <a:solidFill>
                  <a:srgbClr val="3C3838"/>
                </a:solidFill>
                <a:latin typeface="Roboto"/>
                <a:cs typeface="Roboto"/>
              </a:rPr>
              <a:t>components</a:t>
            </a:r>
            <a:r>
              <a:rPr sz="2000" i="1" spc="-60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2000" i="1" spc="-25" dirty="0">
                <a:solidFill>
                  <a:srgbClr val="3C3838"/>
                </a:solidFill>
                <a:latin typeface="Roboto"/>
                <a:cs typeface="Roboto"/>
              </a:rPr>
              <a:t>and </a:t>
            </a:r>
            <a:r>
              <a:rPr sz="2000" i="1" spc="-40" dirty="0">
                <a:solidFill>
                  <a:srgbClr val="3C3838"/>
                </a:solidFill>
                <a:latin typeface="Roboto"/>
                <a:cs typeface="Roboto"/>
              </a:rPr>
              <a:t>relationships</a:t>
            </a:r>
            <a:r>
              <a:rPr sz="2000" i="1" spc="-60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2000" i="1" spc="-30" dirty="0">
                <a:solidFill>
                  <a:srgbClr val="3C3838"/>
                </a:solidFill>
                <a:latin typeface="Roboto"/>
                <a:cs typeface="Roboto"/>
              </a:rPr>
              <a:t>between</a:t>
            </a:r>
            <a:r>
              <a:rPr sz="2000" i="1" spc="-60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2000" i="1" spc="-10" dirty="0">
                <a:solidFill>
                  <a:srgbClr val="3C3838"/>
                </a:solidFill>
                <a:latin typeface="Roboto"/>
                <a:cs typeface="Roboto"/>
              </a:rPr>
              <a:t>them.</a:t>
            </a:r>
            <a:endParaRPr sz="2000">
              <a:latin typeface="Roboto"/>
              <a:cs typeface="Roboto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65366" y="3282403"/>
            <a:ext cx="5757266" cy="575726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102675" y="4046807"/>
            <a:ext cx="1682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0" dirty="0">
                <a:solidFill>
                  <a:srgbClr val="3C3838"/>
                </a:solidFill>
                <a:latin typeface="Roboto"/>
                <a:cs typeface="Roboto"/>
              </a:rPr>
              <a:t>1</a:t>
            </a:r>
            <a:endParaRPr sz="2000">
              <a:latin typeface="Roboto"/>
              <a:cs typeface="Robo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81721" y="964967"/>
            <a:ext cx="14817725" cy="1967230"/>
          </a:xfrm>
          <a:prstGeom prst="rect">
            <a:avLst/>
          </a:prstGeom>
        </p:spPr>
        <p:txBody>
          <a:bodyPr vert="horz" wrap="square" lIns="0" tIns="1536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10"/>
              </a:spcBef>
            </a:pPr>
            <a:r>
              <a:rPr sz="3000" spc="-25" dirty="0">
                <a:solidFill>
                  <a:srgbClr val="1B1B26"/>
                </a:solidFill>
                <a:latin typeface="Roboto"/>
                <a:cs typeface="Roboto"/>
              </a:rPr>
              <a:t>1.</a:t>
            </a:r>
            <a:r>
              <a:rPr sz="3000" spc="-450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3000" spc="-10" dirty="0">
                <a:solidFill>
                  <a:srgbClr val="1B1B26"/>
                </a:solidFill>
                <a:latin typeface="Roboto"/>
                <a:cs typeface="Roboto"/>
              </a:rPr>
              <a:t>Transformation</a:t>
            </a:r>
            <a:r>
              <a:rPr sz="3000" spc="-60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3000" spc="-10" dirty="0">
                <a:solidFill>
                  <a:srgbClr val="1B1B26"/>
                </a:solidFill>
                <a:latin typeface="Roboto"/>
                <a:cs typeface="Roboto"/>
              </a:rPr>
              <a:t>Process</a:t>
            </a:r>
            <a:endParaRPr sz="3000">
              <a:latin typeface="Roboto"/>
              <a:cs typeface="Roboto"/>
            </a:endParaRPr>
          </a:p>
          <a:p>
            <a:pPr marL="128905">
              <a:lnSpc>
                <a:spcPct val="100000"/>
              </a:lnSpc>
              <a:spcBef>
                <a:spcPts val="930"/>
              </a:spcBef>
            </a:pPr>
            <a:r>
              <a:rPr sz="2500" dirty="0">
                <a:solidFill>
                  <a:srgbClr val="1B1B26"/>
                </a:solidFill>
                <a:latin typeface="Roboto"/>
                <a:cs typeface="Roboto"/>
              </a:rPr>
              <a:t>We</a:t>
            </a:r>
            <a:r>
              <a:rPr sz="2500" spc="-55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2500" spc="-10" dirty="0">
                <a:solidFill>
                  <a:srgbClr val="1B1B26"/>
                </a:solidFill>
                <a:latin typeface="Roboto"/>
                <a:cs typeface="Roboto"/>
              </a:rPr>
              <a:t>implemented</a:t>
            </a:r>
            <a:r>
              <a:rPr sz="2500" spc="-55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2500" dirty="0">
                <a:solidFill>
                  <a:srgbClr val="1B1B26"/>
                </a:solidFill>
                <a:latin typeface="Roboto"/>
                <a:cs typeface="Roboto"/>
              </a:rPr>
              <a:t>the</a:t>
            </a:r>
            <a:r>
              <a:rPr sz="2500" spc="-50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2500" spc="-20" dirty="0">
                <a:solidFill>
                  <a:srgbClr val="1B1B26"/>
                </a:solidFill>
                <a:latin typeface="Roboto"/>
                <a:cs typeface="Roboto"/>
              </a:rPr>
              <a:t>transformation</a:t>
            </a:r>
            <a:r>
              <a:rPr sz="2500" spc="-55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2500" spc="-20" dirty="0">
                <a:solidFill>
                  <a:srgbClr val="1B1B26"/>
                </a:solidFill>
                <a:latin typeface="Roboto"/>
                <a:cs typeface="Roboto"/>
              </a:rPr>
              <a:t>using</a:t>
            </a:r>
            <a:r>
              <a:rPr sz="2500" spc="-55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2500" dirty="0">
                <a:solidFill>
                  <a:srgbClr val="1B1B26"/>
                </a:solidFill>
                <a:latin typeface="Roboto"/>
                <a:cs typeface="Roboto"/>
              </a:rPr>
              <a:t>a</a:t>
            </a:r>
            <a:r>
              <a:rPr sz="2500" spc="-50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2500" spc="-114" dirty="0">
                <a:solidFill>
                  <a:srgbClr val="1B1B26"/>
                </a:solidFill>
                <a:latin typeface="Roboto"/>
                <a:cs typeface="Roboto"/>
              </a:rPr>
              <a:t>step-</a:t>
            </a:r>
            <a:r>
              <a:rPr sz="2500" spc="-195" dirty="0">
                <a:solidFill>
                  <a:srgbClr val="1B1B26"/>
                </a:solidFill>
                <a:latin typeface="Roboto"/>
                <a:cs typeface="Roboto"/>
              </a:rPr>
              <a:t>by-</a:t>
            </a:r>
            <a:r>
              <a:rPr sz="2500" dirty="0">
                <a:solidFill>
                  <a:srgbClr val="1B1B26"/>
                </a:solidFill>
                <a:latin typeface="Roboto"/>
                <a:cs typeface="Roboto"/>
              </a:rPr>
              <a:t>step</a:t>
            </a:r>
            <a:r>
              <a:rPr sz="2500" spc="-55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2500" spc="-10" dirty="0">
                <a:solidFill>
                  <a:srgbClr val="1B1B26"/>
                </a:solidFill>
                <a:latin typeface="Roboto"/>
                <a:cs typeface="Roboto"/>
              </a:rPr>
              <a:t>approach:</a:t>
            </a:r>
            <a:endParaRPr sz="2500">
              <a:latin typeface="Roboto"/>
              <a:cs typeface="Roboto"/>
            </a:endParaRPr>
          </a:p>
          <a:p>
            <a:pPr marL="9577705">
              <a:lnSpc>
                <a:spcPct val="100000"/>
              </a:lnSpc>
              <a:spcBef>
                <a:spcPts val="925"/>
              </a:spcBef>
            </a:pPr>
            <a:r>
              <a:rPr sz="2500" spc="-25" dirty="0">
                <a:solidFill>
                  <a:srgbClr val="3C3838"/>
                </a:solidFill>
                <a:latin typeface="Roboto"/>
                <a:cs typeface="Roboto"/>
              </a:rPr>
              <a:t>Designing</a:t>
            </a:r>
            <a:r>
              <a:rPr sz="2500" spc="-65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2500" spc="-20" dirty="0">
                <a:solidFill>
                  <a:srgbClr val="3C3838"/>
                </a:solidFill>
                <a:latin typeface="Roboto"/>
                <a:cs typeface="Roboto"/>
              </a:rPr>
              <a:t>microservices</a:t>
            </a:r>
            <a:r>
              <a:rPr sz="2500" spc="-65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2500" spc="-10" dirty="0">
                <a:solidFill>
                  <a:srgbClr val="3C3838"/>
                </a:solidFill>
                <a:latin typeface="Roboto"/>
                <a:cs typeface="Roboto"/>
              </a:rPr>
              <a:t>architecture</a:t>
            </a:r>
            <a:endParaRPr sz="2500">
              <a:latin typeface="Roboto"/>
              <a:cs typeface="Roboto"/>
            </a:endParaRPr>
          </a:p>
          <a:p>
            <a:pPr marL="9577705">
              <a:lnSpc>
                <a:spcPct val="100000"/>
              </a:lnSpc>
              <a:spcBef>
                <a:spcPts val="325"/>
              </a:spcBef>
            </a:pPr>
            <a:r>
              <a:rPr sz="2000" i="1" spc="-40" dirty="0">
                <a:solidFill>
                  <a:srgbClr val="3C3838"/>
                </a:solidFill>
                <a:latin typeface="Roboto"/>
                <a:cs typeface="Roboto"/>
              </a:rPr>
              <a:t>Dividing</a:t>
            </a:r>
            <a:r>
              <a:rPr sz="2000" i="1" spc="-70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2000" i="1" spc="-40" dirty="0">
                <a:solidFill>
                  <a:srgbClr val="3C3838"/>
                </a:solidFill>
                <a:latin typeface="Roboto"/>
                <a:cs typeface="Roboto"/>
              </a:rPr>
              <a:t>functionality</a:t>
            </a:r>
            <a:r>
              <a:rPr sz="2000" i="1" spc="-70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2000" i="1" spc="-20" dirty="0">
                <a:solidFill>
                  <a:srgbClr val="3C3838"/>
                </a:solidFill>
                <a:latin typeface="Roboto"/>
                <a:cs typeface="Roboto"/>
              </a:rPr>
              <a:t>into</a:t>
            </a:r>
            <a:r>
              <a:rPr sz="2000" i="1" spc="-65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2000" i="1" spc="-10" dirty="0">
                <a:solidFill>
                  <a:srgbClr val="3C3838"/>
                </a:solidFill>
                <a:latin typeface="Roboto"/>
                <a:cs typeface="Roboto"/>
              </a:rPr>
              <a:t>independent</a:t>
            </a:r>
            <a:endParaRPr sz="2000">
              <a:latin typeface="Roboto"/>
              <a:cs typeface="Robo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047261" y="3002002"/>
            <a:ext cx="1007744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i="1" spc="-30" dirty="0">
                <a:solidFill>
                  <a:srgbClr val="3C3838"/>
                </a:solidFill>
                <a:latin typeface="Roboto"/>
                <a:cs typeface="Roboto"/>
              </a:rPr>
              <a:t>services.</a:t>
            </a:r>
            <a:endParaRPr sz="2000">
              <a:latin typeface="Roboto"/>
              <a:cs typeface="Roboto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65366" y="3282403"/>
            <a:ext cx="5757266" cy="5757266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9850809" y="4087288"/>
            <a:ext cx="1682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0" dirty="0">
                <a:solidFill>
                  <a:srgbClr val="3C3838"/>
                </a:solidFill>
                <a:latin typeface="Roboto"/>
                <a:cs typeface="Roboto"/>
              </a:rPr>
              <a:t>2</a:t>
            </a:r>
            <a:endParaRPr sz="2000">
              <a:latin typeface="Roboto"/>
              <a:cs typeface="Robot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141794" y="4662467"/>
            <a:ext cx="3955415" cy="1074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55"/>
              </a:lnSpc>
              <a:spcBef>
                <a:spcPts val="100"/>
              </a:spcBef>
            </a:pPr>
            <a:r>
              <a:rPr sz="2500" spc="-10" dirty="0">
                <a:solidFill>
                  <a:srgbClr val="3C3838"/>
                </a:solidFill>
                <a:latin typeface="Roboto"/>
                <a:cs typeface="Roboto"/>
              </a:rPr>
              <a:t>Containerization</a:t>
            </a:r>
            <a:endParaRPr sz="2500">
              <a:latin typeface="Roboto"/>
              <a:cs typeface="Roboto"/>
            </a:endParaRPr>
          </a:p>
          <a:p>
            <a:pPr marL="12700">
              <a:lnSpc>
                <a:spcPts val="2255"/>
              </a:lnSpc>
            </a:pPr>
            <a:r>
              <a:rPr sz="2000" i="1" spc="-45" dirty="0">
                <a:solidFill>
                  <a:srgbClr val="3C3838"/>
                </a:solidFill>
                <a:latin typeface="Roboto"/>
                <a:cs typeface="Roboto"/>
              </a:rPr>
              <a:t>Packaging</a:t>
            </a:r>
            <a:r>
              <a:rPr sz="2000" i="1" spc="-70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2000" i="1" spc="-25" dirty="0">
                <a:solidFill>
                  <a:srgbClr val="3C3838"/>
                </a:solidFill>
                <a:latin typeface="Roboto"/>
                <a:cs typeface="Roboto"/>
              </a:rPr>
              <a:t>each</a:t>
            </a:r>
            <a:r>
              <a:rPr sz="2000" i="1" spc="-70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2000" i="1" spc="-30" dirty="0">
                <a:solidFill>
                  <a:srgbClr val="3C3838"/>
                </a:solidFill>
                <a:latin typeface="Roboto"/>
                <a:cs typeface="Roboto"/>
              </a:rPr>
              <a:t>service</a:t>
            </a:r>
            <a:r>
              <a:rPr sz="2000" i="1" spc="-70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2000" i="1" spc="-20" dirty="0">
                <a:solidFill>
                  <a:srgbClr val="3C3838"/>
                </a:solidFill>
                <a:latin typeface="Roboto"/>
                <a:cs typeface="Roboto"/>
              </a:rPr>
              <a:t>into</a:t>
            </a:r>
            <a:r>
              <a:rPr sz="2000" i="1" spc="-70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2000" i="1" spc="-10" dirty="0">
                <a:solidFill>
                  <a:srgbClr val="3C3838"/>
                </a:solidFill>
                <a:latin typeface="Roboto"/>
                <a:cs typeface="Roboto"/>
              </a:rPr>
              <a:t>Docker</a:t>
            </a:r>
            <a:endParaRPr sz="20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sz="2000" i="1" spc="-10" dirty="0">
                <a:solidFill>
                  <a:srgbClr val="3C3838"/>
                </a:solidFill>
                <a:latin typeface="Roboto"/>
                <a:cs typeface="Roboto"/>
              </a:rPr>
              <a:t>containers.</a:t>
            </a:r>
            <a:endParaRPr sz="2000">
              <a:latin typeface="Roboto"/>
              <a:cs typeface="Roboto"/>
            </a:endParaRPr>
          </a:p>
        </p:txBody>
      </p:sp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265366" y="3282403"/>
            <a:ext cx="5757266" cy="5757266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0909126" y="5479427"/>
            <a:ext cx="1682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0" dirty="0">
                <a:solidFill>
                  <a:srgbClr val="3C3838"/>
                </a:solidFill>
                <a:latin typeface="Roboto"/>
                <a:cs typeface="Roboto"/>
              </a:rPr>
              <a:t>3</a:t>
            </a:r>
            <a:endParaRPr sz="2000">
              <a:latin typeface="Roboto"/>
              <a:cs typeface="Roboto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2141794" y="7165957"/>
            <a:ext cx="4888865" cy="10890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910"/>
              </a:lnSpc>
              <a:spcBef>
                <a:spcPts val="100"/>
              </a:spcBef>
            </a:pPr>
            <a:r>
              <a:rPr sz="2500" spc="-25" dirty="0">
                <a:solidFill>
                  <a:srgbClr val="3C3838"/>
                </a:solidFill>
                <a:latin typeface="Roboto"/>
                <a:cs typeface="Roboto"/>
              </a:rPr>
              <a:t>Building</a:t>
            </a:r>
            <a:r>
              <a:rPr sz="2500" spc="-70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2500" dirty="0">
                <a:solidFill>
                  <a:srgbClr val="3C3838"/>
                </a:solidFill>
                <a:latin typeface="Roboto"/>
                <a:cs typeface="Roboto"/>
              </a:rPr>
              <a:t>a</a:t>
            </a:r>
            <a:r>
              <a:rPr sz="2500" spc="-70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2500" dirty="0">
                <a:solidFill>
                  <a:srgbClr val="3C3838"/>
                </a:solidFill>
                <a:latin typeface="Roboto"/>
                <a:cs typeface="Roboto"/>
              </a:rPr>
              <a:t>new</a:t>
            </a:r>
            <a:r>
              <a:rPr sz="2500" spc="-70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2500" spc="-10" dirty="0">
                <a:solidFill>
                  <a:srgbClr val="3C3838"/>
                </a:solidFill>
                <a:latin typeface="Roboto"/>
                <a:cs typeface="Roboto"/>
              </a:rPr>
              <a:t>database</a:t>
            </a:r>
            <a:endParaRPr sz="2500">
              <a:latin typeface="Roboto"/>
              <a:cs typeface="Roboto"/>
            </a:endParaRPr>
          </a:p>
          <a:p>
            <a:pPr marL="12700">
              <a:lnSpc>
                <a:spcPts val="2310"/>
              </a:lnSpc>
            </a:pPr>
            <a:r>
              <a:rPr sz="2000" i="1" spc="-45" dirty="0">
                <a:solidFill>
                  <a:srgbClr val="3C3838"/>
                </a:solidFill>
                <a:latin typeface="Roboto"/>
                <a:cs typeface="Roboto"/>
              </a:rPr>
              <a:t>Transitioning</a:t>
            </a:r>
            <a:r>
              <a:rPr sz="2000" i="1" spc="-60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2000" i="1" dirty="0">
                <a:solidFill>
                  <a:srgbClr val="3C3838"/>
                </a:solidFill>
                <a:latin typeface="Roboto"/>
                <a:cs typeface="Roboto"/>
              </a:rPr>
              <a:t>from</a:t>
            </a:r>
            <a:r>
              <a:rPr sz="2000" i="1" spc="-65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2000" i="1" spc="-55" dirty="0">
                <a:solidFill>
                  <a:srgbClr val="3C3838"/>
                </a:solidFill>
                <a:latin typeface="Roboto"/>
                <a:cs typeface="Roboto"/>
              </a:rPr>
              <a:t>MySQL</a:t>
            </a:r>
            <a:r>
              <a:rPr sz="2000" i="1" spc="-60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2000" i="1" dirty="0">
                <a:solidFill>
                  <a:srgbClr val="3C3838"/>
                </a:solidFill>
                <a:latin typeface="Roboto"/>
                <a:cs typeface="Roboto"/>
              </a:rPr>
              <a:t>to</a:t>
            </a:r>
            <a:r>
              <a:rPr sz="2000" i="1" spc="-60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2000" i="1" spc="-45" dirty="0">
                <a:solidFill>
                  <a:srgbClr val="3C3838"/>
                </a:solidFill>
                <a:latin typeface="Roboto"/>
                <a:cs typeface="Roboto"/>
              </a:rPr>
              <a:t>MongoDB</a:t>
            </a:r>
            <a:r>
              <a:rPr sz="2000" i="1" spc="-60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2000" i="1" spc="-20" dirty="0">
                <a:solidFill>
                  <a:srgbClr val="3C3838"/>
                </a:solidFill>
                <a:latin typeface="Roboto"/>
                <a:cs typeface="Roboto"/>
              </a:rPr>
              <a:t>with</a:t>
            </a:r>
            <a:endParaRPr sz="20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sz="2000" i="1" spc="-20" dirty="0">
                <a:solidFill>
                  <a:srgbClr val="3C3838"/>
                </a:solidFill>
                <a:latin typeface="Roboto"/>
                <a:cs typeface="Roboto"/>
              </a:rPr>
              <a:t>more</a:t>
            </a:r>
            <a:r>
              <a:rPr sz="2000" i="1" spc="-60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2000" i="1" spc="-20" dirty="0">
                <a:solidFill>
                  <a:srgbClr val="3C3838"/>
                </a:solidFill>
                <a:latin typeface="Roboto"/>
                <a:cs typeface="Roboto"/>
              </a:rPr>
              <a:t>flexible</a:t>
            </a:r>
            <a:r>
              <a:rPr sz="2000" i="1" spc="-60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2000" i="1" spc="-10" dirty="0">
                <a:solidFill>
                  <a:srgbClr val="3C3838"/>
                </a:solidFill>
                <a:latin typeface="Roboto"/>
                <a:cs typeface="Roboto"/>
              </a:rPr>
              <a:t>schema.</a:t>
            </a:r>
            <a:endParaRPr sz="2000">
              <a:latin typeface="Roboto"/>
              <a:cs typeface="Roboto"/>
            </a:endParaRPr>
          </a:p>
        </p:txBody>
      </p:sp>
      <p:pic>
        <p:nvPicPr>
          <p:cNvPr id="14" name="object 1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265366" y="3282403"/>
            <a:ext cx="5757266" cy="5757266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10480501" y="7174579"/>
            <a:ext cx="1682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0" dirty="0">
                <a:solidFill>
                  <a:srgbClr val="3C3838"/>
                </a:solidFill>
                <a:latin typeface="Roboto"/>
                <a:cs typeface="Roboto"/>
              </a:rPr>
              <a:t>4</a:t>
            </a:r>
            <a:endParaRPr sz="2000">
              <a:latin typeface="Roboto"/>
              <a:cs typeface="Roboto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888039" y="9049605"/>
            <a:ext cx="4234180" cy="892175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sz="2500" spc="-20" dirty="0">
                <a:solidFill>
                  <a:srgbClr val="3C3838"/>
                </a:solidFill>
                <a:latin typeface="Roboto"/>
                <a:cs typeface="Roboto"/>
              </a:rPr>
              <a:t>Developing</a:t>
            </a:r>
            <a:r>
              <a:rPr sz="2500" spc="-65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2500" dirty="0">
                <a:solidFill>
                  <a:srgbClr val="3C3838"/>
                </a:solidFill>
                <a:latin typeface="Roboto"/>
                <a:cs typeface="Roboto"/>
              </a:rPr>
              <a:t>API</a:t>
            </a:r>
            <a:r>
              <a:rPr sz="2500" spc="-60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2500" spc="-10" dirty="0">
                <a:solidFill>
                  <a:srgbClr val="3C3838"/>
                </a:solidFill>
                <a:latin typeface="Roboto"/>
                <a:cs typeface="Roboto"/>
              </a:rPr>
              <a:t>Gateway</a:t>
            </a:r>
            <a:endParaRPr sz="25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635"/>
              </a:spcBef>
            </a:pPr>
            <a:r>
              <a:rPr sz="2000" i="1" spc="-45" dirty="0">
                <a:solidFill>
                  <a:srgbClr val="3C3838"/>
                </a:solidFill>
                <a:latin typeface="Roboto"/>
                <a:cs typeface="Roboto"/>
              </a:rPr>
              <a:t>Using</a:t>
            </a:r>
            <a:r>
              <a:rPr sz="2000" i="1" spc="-80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2000" i="1" spc="-25" dirty="0">
                <a:solidFill>
                  <a:srgbClr val="3C3838"/>
                </a:solidFill>
                <a:latin typeface="Roboto"/>
                <a:cs typeface="Roboto"/>
              </a:rPr>
              <a:t>Nginx</a:t>
            </a:r>
            <a:r>
              <a:rPr sz="2000" i="1" spc="-80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2000" i="1" dirty="0">
                <a:solidFill>
                  <a:srgbClr val="3C3838"/>
                </a:solidFill>
                <a:latin typeface="Roboto"/>
                <a:cs typeface="Roboto"/>
              </a:rPr>
              <a:t>as</a:t>
            </a:r>
            <a:r>
              <a:rPr sz="2000" i="1" spc="-80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2000" i="1" dirty="0">
                <a:solidFill>
                  <a:srgbClr val="3C3838"/>
                </a:solidFill>
                <a:latin typeface="Roboto"/>
                <a:cs typeface="Roboto"/>
              </a:rPr>
              <a:t>a</a:t>
            </a:r>
            <a:r>
              <a:rPr sz="2000" i="1" spc="-80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2000" i="1" spc="-30" dirty="0">
                <a:solidFill>
                  <a:srgbClr val="3C3838"/>
                </a:solidFill>
                <a:latin typeface="Roboto"/>
                <a:cs typeface="Roboto"/>
              </a:rPr>
              <a:t>central</a:t>
            </a:r>
            <a:r>
              <a:rPr sz="2000" i="1" spc="-80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2000" i="1" spc="-30" dirty="0">
                <a:solidFill>
                  <a:srgbClr val="3C3838"/>
                </a:solidFill>
                <a:latin typeface="Roboto"/>
                <a:cs typeface="Roboto"/>
              </a:rPr>
              <a:t>access</a:t>
            </a:r>
            <a:r>
              <a:rPr sz="2000" i="1" spc="-80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2000" i="1" spc="-10" dirty="0">
                <a:solidFill>
                  <a:srgbClr val="3C3838"/>
                </a:solidFill>
                <a:latin typeface="Roboto"/>
                <a:cs typeface="Roboto"/>
              </a:rPr>
              <a:t>point.</a:t>
            </a:r>
            <a:endParaRPr sz="2000">
              <a:latin typeface="Roboto"/>
              <a:cs typeface="Roboto"/>
            </a:endParaRPr>
          </a:p>
        </p:txBody>
      </p:sp>
      <p:pic>
        <p:nvPicPr>
          <p:cNvPr id="17" name="object 1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265366" y="3282403"/>
            <a:ext cx="5757266" cy="5757266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8888039" y="7896545"/>
            <a:ext cx="1682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0" dirty="0">
                <a:solidFill>
                  <a:srgbClr val="3C3838"/>
                </a:solidFill>
                <a:latin typeface="Roboto"/>
                <a:cs typeface="Roboto"/>
              </a:rPr>
              <a:t>5</a:t>
            </a:r>
            <a:endParaRPr sz="2000">
              <a:latin typeface="Roboto"/>
              <a:cs typeface="Roboto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139106" y="8574820"/>
            <a:ext cx="4217035" cy="1062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43025">
              <a:lnSpc>
                <a:spcPts val="2810"/>
              </a:lnSpc>
              <a:spcBef>
                <a:spcPts val="100"/>
              </a:spcBef>
            </a:pPr>
            <a:r>
              <a:rPr sz="2500" spc="-20" dirty="0">
                <a:solidFill>
                  <a:srgbClr val="3C3838"/>
                </a:solidFill>
                <a:latin typeface="Roboto"/>
                <a:cs typeface="Roboto"/>
              </a:rPr>
              <a:t>Implementing</a:t>
            </a:r>
            <a:r>
              <a:rPr sz="2500" spc="-70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2500" spc="-20" dirty="0">
                <a:solidFill>
                  <a:srgbClr val="3C3838"/>
                </a:solidFill>
                <a:latin typeface="Roboto"/>
                <a:cs typeface="Roboto"/>
              </a:rPr>
              <a:t>CI/CD</a:t>
            </a:r>
            <a:endParaRPr sz="2500">
              <a:latin typeface="Roboto"/>
              <a:cs typeface="Roboto"/>
            </a:endParaRPr>
          </a:p>
          <a:p>
            <a:pPr marR="5080" algn="r">
              <a:lnSpc>
                <a:spcPts val="2210"/>
              </a:lnSpc>
            </a:pPr>
            <a:r>
              <a:rPr sz="2000" i="1" spc="-35" dirty="0">
                <a:solidFill>
                  <a:srgbClr val="3C3838"/>
                </a:solidFill>
                <a:latin typeface="Roboto"/>
                <a:cs typeface="Roboto"/>
              </a:rPr>
              <a:t>Setting</a:t>
            </a:r>
            <a:r>
              <a:rPr sz="2000" i="1" spc="-85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2000" i="1" spc="-10" dirty="0">
                <a:solidFill>
                  <a:srgbClr val="3C3838"/>
                </a:solidFill>
                <a:latin typeface="Roboto"/>
                <a:cs typeface="Roboto"/>
              </a:rPr>
              <a:t>up</a:t>
            </a:r>
            <a:r>
              <a:rPr sz="2000" i="1" spc="-80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2000" i="1" spc="-10" dirty="0">
                <a:solidFill>
                  <a:srgbClr val="3C3838"/>
                </a:solidFill>
                <a:latin typeface="Roboto"/>
                <a:cs typeface="Roboto"/>
              </a:rPr>
              <a:t>an</a:t>
            </a:r>
            <a:r>
              <a:rPr sz="2000" i="1" spc="-80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2000" i="1" spc="-40" dirty="0">
                <a:solidFill>
                  <a:srgbClr val="3C3838"/>
                </a:solidFill>
                <a:latin typeface="Roboto"/>
                <a:cs typeface="Roboto"/>
              </a:rPr>
              <a:t>automated</a:t>
            </a:r>
            <a:r>
              <a:rPr sz="2000" i="1" spc="-85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2000" i="1" spc="-30" dirty="0">
                <a:solidFill>
                  <a:srgbClr val="3C3838"/>
                </a:solidFill>
                <a:latin typeface="Roboto"/>
                <a:cs typeface="Roboto"/>
              </a:rPr>
              <a:t>process</a:t>
            </a:r>
            <a:r>
              <a:rPr sz="2000" i="1" spc="-80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2000" i="1" spc="-20" dirty="0">
                <a:solidFill>
                  <a:srgbClr val="3C3838"/>
                </a:solidFill>
                <a:latin typeface="Roboto"/>
                <a:cs typeface="Roboto"/>
              </a:rPr>
              <a:t>with</a:t>
            </a:r>
            <a:endParaRPr sz="2000">
              <a:latin typeface="Roboto"/>
              <a:cs typeface="Roboto"/>
            </a:endParaRPr>
          </a:p>
          <a:p>
            <a:pPr marR="5080" algn="r">
              <a:lnSpc>
                <a:spcPct val="100000"/>
              </a:lnSpc>
              <a:spcBef>
                <a:spcPts val="750"/>
              </a:spcBef>
            </a:pPr>
            <a:r>
              <a:rPr sz="2000" i="1" spc="-10" dirty="0">
                <a:solidFill>
                  <a:srgbClr val="3C3838"/>
                </a:solidFill>
                <a:latin typeface="Roboto"/>
                <a:cs typeface="Roboto"/>
              </a:rPr>
              <a:t>Jenkins.</a:t>
            </a:r>
            <a:endParaRPr sz="2000">
              <a:latin typeface="Roboto"/>
              <a:cs typeface="Roboto"/>
            </a:endParaRPr>
          </a:p>
        </p:txBody>
      </p:sp>
      <p:pic>
        <p:nvPicPr>
          <p:cNvPr id="20" name="object 2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265366" y="3282403"/>
            <a:ext cx="5757266" cy="5757266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7330553" y="7101505"/>
            <a:ext cx="1682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0" dirty="0">
                <a:solidFill>
                  <a:srgbClr val="3C3838"/>
                </a:solidFill>
                <a:latin typeface="Roboto"/>
                <a:cs typeface="Roboto"/>
              </a:rPr>
              <a:t>6</a:t>
            </a:r>
            <a:endParaRPr sz="2000">
              <a:latin typeface="Roboto"/>
              <a:cs typeface="Roboto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826517" y="5431771"/>
            <a:ext cx="4318635" cy="1283335"/>
          </a:xfrm>
          <a:prstGeom prst="rect">
            <a:avLst/>
          </a:prstGeom>
        </p:spPr>
        <p:txBody>
          <a:bodyPr vert="horz" wrap="square" lIns="0" tIns="107950" rIns="0" bIns="0" rtlCol="0">
            <a:spAutoFit/>
          </a:bodyPr>
          <a:lstStyle/>
          <a:p>
            <a:pPr marL="404495">
              <a:lnSpc>
                <a:spcPct val="100000"/>
              </a:lnSpc>
              <a:spcBef>
                <a:spcPts val="850"/>
              </a:spcBef>
            </a:pPr>
            <a:r>
              <a:rPr sz="2500" spc="-25" dirty="0">
                <a:solidFill>
                  <a:srgbClr val="3C3838"/>
                </a:solidFill>
                <a:latin typeface="Roboto"/>
                <a:cs typeface="Roboto"/>
              </a:rPr>
              <a:t>Deploying</a:t>
            </a:r>
            <a:r>
              <a:rPr sz="2500" spc="-90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2500" dirty="0">
                <a:solidFill>
                  <a:srgbClr val="3C3838"/>
                </a:solidFill>
                <a:latin typeface="Roboto"/>
                <a:cs typeface="Roboto"/>
              </a:rPr>
              <a:t>to</a:t>
            </a:r>
            <a:r>
              <a:rPr sz="2500" spc="-90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2500" dirty="0">
                <a:solidFill>
                  <a:srgbClr val="3C3838"/>
                </a:solidFill>
                <a:latin typeface="Roboto"/>
                <a:cs typeface="Roboto"/>
              </a:rPr>
              <a:t>cloud</a:t>
            </a:r>
            <a:r>
              <a:rPr sz="2500" spc="-90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2500" spc="-10" dirty="0">
                <a:solidFill>
                  <a:srgbClr val="3C3838"/>
                </a:solidFill>
                <a:latin typeface="Roboto"/>
                <a:cs typeface="Roboto"/>
              </a:rPr>
              <a:t>platform</a:t>
            </a:r>
            <a:endParaRPr sz="2500">
              <a:latin typeface="Roboto"/>
              <a:cs typeface="Roboto"/>
            </a:endParaRPr>
          </a:p>
          <a:p>
            <a:pPr marR="5080" algn="r">
              <a:lnSpc>
                <a:spcPct val="100000"/>
              </a:lnSpc>
              <a:spcBef>
                <a:spcPts val="600"/>
              </a:spcBef>
            </a:pPr>
            <a:r>
              <a:rPr sz="2000" i="1" spc="-45" dirty="0">
                <a:solidFill>
                  <a:srgbClr val="3C3838"/>
                </a:solidFill>
                <a:latin typeface="Roboto"/>
                <a:cs typeface="Roboto"/>
              </a:rPr>
              <a:t>Using</a:t>
            </a:r>
            <a:r>
              <a:rPr sz="2000" i="1" spc="-75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2000" i="1" spc="-35" dirty="0">
                <a:solidFill>
                  <a:srgbClr val="3C3838"/>
                </a:solidFill>
                <a:latin typeface="Roboto"/>
                <a:cs typeface="Roboto"/>
              </a:rPr>
              <a:t>Digital</a:t>
            </a:r>
            <a:r>
              <a:rPr sz="2000" i="1" spc="-70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2000" i="1" spc="-25" dirty="0">
                <a:solidFill>
                  <a:srgbClr val="3C3838"/>
                </a:solidFill>
                <a:latin typeface="Roboto"/>
                <a:cs typeface="Roboto"/>
              </a:rPr>
              <a:t>Ocean</a:t>
            </a:r>
            <a:r>
              <a:rPr sz="2000" i="1" spc="-75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2000" i="1" spc="-25" dirty="0">
                <a:solidFill>
                  <a:srgbClr val="3C3838"/>
                </a:solidFill>
                <a:latin typeface="Roboto"/>
                <a:cs typeface="Roboto"/>
              </a:rPr>
              <a:t>with</a:t>
            </a:r>
            <a:r>
              <a:rPr sz="2000" i="1" spc="-70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2000" i="1" spc="-35" dirty="0">
                <a:solidFill>
                  <a:srgbClr val="3C3838"/>
                </a:solidFill>
                <a:latin typeface="Roboto"/>
                <a:cs typeface="Roboto"/>
              </a:rPr>
              <a:t>Kubernetes</a:t>
            </a:r>
            <a:r>
              <a:rPr sz="2000" i="1" spc="-75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2000" i="1" spc="-25" dirty="0">
                <a:solidFill>
                  <a:srgbClr val="3C3838"/>
                </a:solidFill>
                <a:latin typeface="Roboto"/>
                <a:cs typeface="Roboto"/>
              </a:rPr>
              <a:t>to</a:t>
            </a:r>
            <a:endParaRPr sz="2000">
              <a:latin typeface="Roboto"/>
              <a:cs typeface="Roboto"/>
            </a:endParaRPr>
          </a:p>
          <a:p>
            <a:pPr marR="5080" algn="r">
              <a:lnSpc>
                <a:spcPct val="100000"/>
              </a:lnSpc>
              <a:spcBef>
                <a:spcPts val="750"/>
              </a:spcBef>
            </a:pPr>
            <a:r>
              <a:rPr sz="2000" i="1" spc="-40" dirty="0">
                <a:solidFill>
                  <a:srgbClr val="3C3838"/>
                </a:solidFill>
                <a:latin typeface="Roboto"/>
                <a:cs typeface="Roboto"/>
              </a:rPr>
              <a:t>manage</a:t>
            </a:r>
            <a:r>
              <a:rPr sz="2000" i="1" spc="-75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2000" i="1" spc="-10" dirty="0">
                <a:solidFill>
                  <a:srgbClr val="3C3838"/>
                </a:solidFill>
                <a:latin typeface="Roboto"/>
                <a:cs typeface="Roboto"/>
              </a:rPr>
              <a:t>containers.</a:t>
            </a:r>
            <a:endParaRPr sz="2000">
              <a:latin typeface="Roboto"/>
              <a:cs typeface="Roboto"/>
            </a:endParaRPr>
          </a:p>
        </p:txBody>
      </p:sp>
      <p:pic>
        <p:nvPicPr>
          <p:cNvPr id="23" name="object 2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265366" y="3282403"/>
            <a:ext cx="5757266" cy="5757266"/>
          </a:xfrm>
          <a:prstGeom prst="rect">
            <a:avLst/>
          </a:prstGeom>
        </p:spPr>
      </p:pic>
      <p:sp>
        <p:nvSpPr>
          <p:cNvPr id="24" name="object 24"/>
          <p:cNvSpPr txBox="1"/>
          <p:nvPr/>
        </p:nvSpPr>
        <p:spPr>
          <a:xfrm>
            <a:off x="6981106" y="5388195"/>
            <a:ext cx="1682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0" dirty="0">
                <a:solidFill>
                  <a:srgbClr val="3C3838"/>
                </a:solidFill>
                <a:latin typeface="Roboto"/>
                <a:cs typeface="Roboto"/>
              </a:rPr>
              <a:t>7</a:t>
            </a:r>
            <a:endParaRPr sz="20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117145" y="1477749"/>
            <a:ext cx="16049625" cy="8634730"/>
            <a:chOff x="1117145" y="1477749"/>
            <a:chExt cx="16049625" cy="863473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7145" y="1477749"/>
              <a:ext cx="16049624" cy="863431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7541514" y="2731172"/>
              <a:ext cx="9394825" cy="4921250"/>
            </a:xfrm>
            <a:custGeom>
              <a:avLst/>
              <a:gdLst/>
              <a:ahLst/>
              <a:cxnLst/>
              <a:rect l="l" t="t" r="r" b="b"/>
              <a:pathLst>
                <a:path w="9394825" h="4921250">
                  <a:moveTo>
                    <a:pt x="355282" y="4720983"/>
                  </a:moveTo>
                  <a:lnTo>
                    <a:pt x="354850" y="4719244"/>
                  </a:lnTo>
                  <a:lnTo>
                    <a:pt x="353707" y="4723041"/>
                  </a:lnTo>
                  <a:lnTo>
                    <a:pt x="353453" y="4724095"/>
                  </a:lnTo>
                  <a:lnTo>
                    <a:pt x="355282" y="4720983"/>
                  </a:lnTo>
                  <a:close/>
                </a:path>
                <a:path w="9394825" h="4921250">
                  <a:moveTo>
                    <a:pt x="355282" y="4710671"/>
                  </a:moveTo>
                  <a:lnTo>
                    <a:pt x="349084" y="4700346"/>
                  </a:lnTo>
                  <a:lnTo>
                    <a:pt x="342900" y="4697260"/>
                  </a:lnTo>
                  <a:lnTo>
                    <a:pt x="335292" y="4695710"/>
                  </a:lnTo>
                  <a:lnTo>
                    <a:pt x="326136" y="4695710"/>
                  </a:lnTo>
                  <a:lnTo>
                    <a:pt x="317360" y="4697260"/>
                  </a:lnTo>
                  <a:lnTo>
                    <a:pt x="310921" y="4700346"/>
                  </a:lnTo>
                  <a:lnTo>
                    <a:pt x="308381" y="4705147"/>
                  </a:lnTo>
                  <a:lnTo>
                    <a:pt x="307492" y="4706899"/>
                  </a:lnTo>
                  <a:lnTo>
                    <a:pt x="306793" y="4706823"/>
                  </a:lnTo>
                  <a:lnTo>
                    <a:pt x="306793" y="4731296"/>
                  </a:lnTo>
                  <a:lnTo>
                    <a:pt x="305041" y="4724578"/>
                  </a:lnTo>
                  <a:lnTo>
                    <a:pt x="305079" y="4723041"/>
                  </a:lnTo>
                  <a:lnTo>
                    <a:pt x="305206" y="4719244"/>
                  </a:lnTo>
                  <a:lnTo>
                    <a:pt x="305257" y="4717885"/>
                  </a:lnTo>
                  <a:lnTo>
                    <a:pt x="305193" y="4725136"/>
                  </a:lnTo>
                  <a:lnTo>
                    <a:pt x="306793" y="4731296"/>
                  </a:lnTo>
                  <a:lnTo>
                    <a:pt x="306793" y="4706823"/>
                  </a:lnTo>
                  <a:lnTo>
                    <a:pt x="292036" y="4705147"/>
                  </a:lnTo>
                  <a:lnTo>
                    <a:pt x="233273" y="4701197"/>
                  </a:lnTo>
                  <a:lnTo>
                    <a:pt x="146469" y="4697488"/>
                  </a:lnTo>
                  <a:lnTo>
                    <a:pt x="26200" y="4694161"/>
                  </a:lnTo>
                  <a:lnTo>
                    <a:pt x="22453" y="4696396"/>
                  </a:lnTo>
                  <a:lnTo>
                    <a:pt x="14071" y="4702022"/>
                  </a:lnTo>
                  <a:lnTo>
                    <a:pt x="5308" y="4709388"/>
                  </a:lnTo>
                  <a:lnTo>
                    <a:pt x="406" y="4716856"/>
                  </a:lnTo>
                  <a:lnTo>
                    <a:pt x="342" y="4717275"/>
                  </a:lnTo>
                  <a:lnTo>
                    <a:pt x="241" y="4717885"/>
                  </a:lnTo>
                  <a:lnTo>
                    <a:pt x="12" y="4719244"/>
                  </a:lnTo>
                  <a:lnTo>
                    <a:pt x="0" y="4724578"/>
                  </a:lnTo>
                  <a:lnTo>
                    <a:pt x="330" y="4725136"/>
                  </a:lnTo>
                  <a:lnTo>
                    <a:pt x="4533" y="4734395"/>
                  </a:lnTo>
                  <a:lnTo>
                    <a:pt x="9690" y="4738522"/>
                  </a:lnTo>
                  <a:lnTo>
                    <a:pt x="13817" y="4742650"/>
                  </a:lnTo>
                  <a:lnTo>
                    <a:pt x="16916" y="4743678"/>
                  </a:lnTo>
                  <a:lnTo>
                    <a:pt x="59194" y="4749177"/>
                  </a:lnTo>
                  <a:lnTo>
                    <a:pt x="112395" y="4752619"/>
                  </a:lnTo>
                  <a:lnTo>
                    <a:pt x="175907" y="4755019"/>
                  </a:lnTo>
                  <a:lnTo>
                    <a:pt x="239852" y="4755375"/>
                  </a:lnTo>
                  <a:lnTo>
                    <a:pt x="294335" y="4752619"/>
                  </a:lnTo>
                  <a:lnTo>
                    <a:pt x="329488" y="4745736"/>
                  </a:lnTo>
                  <a:lnTo>
                    <a:pt x="339902" y="4739652"/>
                  </a:lnTo>
                  <a:lnTo>
                    <a:pt x="347802" y="4732591"/>
                  </a:lnTo>
                  <a:lnTo>
                    <a:pt x="350494" y="4728730"/>
                  </a:lnTo>
                  <a:lnTo>
                    <a:pt x="351053" y="4728172"/>
                  </a:lnTo>
                  <a:lnTo>
                    <a:pt x="352005" y="4726546"/>
                  </a:lnTo>
                  <a:lnTo>
                    <a:pt x="352983" y="4725136"/>
                  </a:lnTo>
                  <a:lnTo>
                    <a:pt x="353161" y="4724578"/>
                  </a:lnTo>
                  <a:lnTo>
                    <a:pt x="353263" y="4724260"/>
                  </a:lnTo>
                  <a:lnTo>
                    <a:pt x="353314" y="4724095"/>
                  </a:lnTo>
                  <a:lnTo>
                    <a:pt x="354850" y="4719244"/>
                  </a:lnTo>
                  <a:lnTo>
                    <a:pt x="355282" y="4717885"/>
                  </a:lnTo>
                  <a:lnTo>
                    <a:pt x="355282" y="4710671"/>
                  </a:lnTo>
                  <a:close/>
                </a:path>
                <a:path w="9394825" h="4921250">
                  <a:moveTo>
                    <a:pt x="374878" y="943267"/>
                  </a:moveTo>
                  <a:lnTo>
                    <a:pt x="374345" y="941743"/>
                  </a:lnTo>
                  <a:lnTo>
                    <a:pt x="372795" y="946594"/>
                  </a:lnTo>
                  <a:lnTo>
                    <a:pt x="372808" y="946785"/>
                  </a:lnTo>
                  <a:lnTo>
                    <a:pt x="372922" y="946594"/>
                  </a:lnTo>
                  <a:lnTo>
                    <a:pt x="374878" y="943267"/>
                  </a:lnTo>
                  <a:close/>
                </a:path>
                <a:path w="9394825" h="4921250">
                  <a:moveTo>
                    <a:pt x="374878" y="932954"/>
                  </a:moveTo>
                  <a:lnTo>
                    <a:pt x="368693" y="922642"/>
                  </a:lnTo>
                  <a:lnTo>
                    <a:pt x="361467" y="919543"/>
                  </a:lnTo>
                  <a:lnTo>
                    <a:pt x="354774" y="917613"/>
                  </a:lnTo>
                  <a:lnTo>
                    <a:pt x="353479" y="917613"/>
                  </a:lnTo>
                  <a:lnTo>
                    <a:pt x="353479" y="964526"/>
                  </a:lnTo>
                  <a:lnTo>
                    <a:pt x="349199" y="965962"/>
                  </a:lnTo>
                  <a:lnTo>
                    <a:pt x="352907" y="964768"/>
                  </a:lnTo>
                  <a:lnTo>
                    <a:pt x="345998" y="967003"/>
                  </a:lnTo>
                  <a:lnTo>
                    <a:pt x="352729" y="964768"/>
                  </a:lnTo>
                  <a:lnTo>
                    <a:pt x="353479" y="964526"/>
                  </a:lnTo>
                  <a:lnTo>
                    <a:pt x="353479" y="917613"/>
                  </a:lnTo>
                  <a:lnTo>
                    <a:pt x="345998" y="917613"/>
                  </a:lnTo>
                  <a:lnTo>
                    <a:pt x="337388" y="919403"/>
                  </a:lnTo>
                  <a:lnTo>
                    <a:pt x="330517" y="922642"/>
                  </a:lnTo>
                  <a:lnTo>
                    <a:pt x="325361" y="926769"/>
                  </a:lnTo>
                  <a:lnTo>
                    <a:pt x="324739" y="928484"/>
                  </a:lnTo>
                  <a:lnTo>
                    <a:pt x="280657" y="924471"/>
                  </a:lnTo>
                  <a:lnTo>
                    <a:pt x="193700" y="919772"/>
                  </a:lnTo>
                  <a:lnTo>
                    <a:pt x="65405" y="915416"/>
                  </a:lnTo>
                  <a:lnTo>
                    <a:pt x="61658" y="917803"/>
                  </a:lnTo>
                  <a:lnTo>
                    <a:pt x="39319" y="940181"/>
                  </a:lnTo>
                  <a:lnTo>
                    <a:pt x="39408" y="947000"/>
                  </a:lnTo>
                  <a:lnTo>
                    <a:pt x="43738" y="955649"/>
                  </a:lnTo>
                  <a:lnTo>
                    <a:pt x="52857" y="964768"/>
                  </a:lnTo>
                  <a:lnTo>
                    <a:pt x="52539" y="964768"/>
                  </a:lnTo>
                  <a:lnTo>
                    <a:pt x="56108" y="965962"/>
                  </a:lnTo>
                  <a:lnTo>
                    <a:pt x="65405" y="967003"/>
                  </a:lnTo>
                  <a:lnTo>
                    <a:pt x="96304" y="970788"/>
                  </a:lnTo>
                  <a:lnTo>
                    <a:pt x="145821" y="974331"/>
                  </a:lnTo>
                  <a:lnTo>
                    <a:pt x="204927" y="976668"/>
                  </a:lnTo>
                  <a:lnTo>
                    <a:pt x="264541" y="976858"/>
                  </a:lnTo>
                  <a:lnTo>
                    <a:pt x="315607" y="973950"/>
                  </a:lnTo>
                  <a:lnTo>
                    <a:pt x="349084" y="967003"/>
                  </a:lnTo>
                  <a:lnTo>
                    <a:pt x="353199" y="964768"/>
                  </a:lnTo>
                  <a:lnTo>
                    <a:pt x="353923" y="964374"/>
                  </a:lnTo>
                  <a:lnTo>
                    <a:pt x="353568" y="964501"/>
                  </a:lnTo>
                  <a:lnTo>
                    <a:pt x="353860" y="964374"/>
                  </a:lnTo>
                  <a:lnTo>
                    <a:pt x="357695" y="961732"/>
                  </a:lnTo>
                  <a:lnTo>
                    <a:pt x="353923" y="964374"/>
                  </a:lnTo>
                  <a:lnTo>
                    <a:pt x="359498" y="961351"/>
                  </a:lnTo>
                  <a:lnTo>
                    <a:pt x="367398" y="954354"/>
                  </a:lnTo>
                  <a:lnTo>
                    <a:pt x="368782" y="952360"/>
                  </a:lnTo>
                  <a:lnTo>
                    <a:pt x="367055" y="954011"/>
                  </a:lnTo>
                  <a:lnTo>
                    <a:pt x="369112" y="951979"/>
                  </a:lnTo>
                  <a:lnTo>
                    <a:pt x="370649" y="950455"/>
                  </a:lnTo>
                  <a:lnTo>
                    <a:pt x="372541" y="947280"/>
                  </a:lnTo>
                  <a:lnTo>
                    <a:pt x="370344" y="950264"/>
                  </a:lnTo>
                  <a:lnTo>
                    <a:pt x="372491" y="947280"/>
                  </a:lnTo>
                  <a:lnTo>
                    <a:pt x="372579" y="947000"/>
                  </a:lnTo>
                  <a:lnTo>
                    <a:pt x="372656" y="946785"/>
                  </a:lnTo>
                  <a:lnTo>
                    <a:pt x="372719" y="946594"/>
                  </a:lnTo>
                  <a:lnTo>
                    <a:pt x="374345" y="941743"/>
                  </a:lnTo>
                  <a:lnTo>
                    <a:pt x="374878" y="940181"/>
                  </a:lnTo>
                  <a:lnTo>
                    <a:pt x="374878" y="932954"/>
                  </a:lnTo>
                  <a:close/>
                </a:path>
                <a:path w="9394825" h="4921250">
                  <a:moveTo>
                    <a:pt x="586359" y="945337"/>
                  </a:moveTo>
                  <a:lnTo>
                    <a:pt x="586257" y="943267"/>
                  </a:lnTo>
                  <a:lnTo>
                    <a:pt x="585851" y="934732"/>
                  </a:lnTo>
                  <a:lnTo>
                    <a:pt x="585787" y="934491"/>
                  </a:lnTo>
                  <a:lnTo>
                    <a:pt x="555904" y="887793"/>
                  </a:lnTo>
                  <a:lnTo>
                    <a:pt x="469353" y="814641"/>
                  </a:lnTo>
                  <a:lnTo>
                    <a:pt x="413156" y="779564"/>
                  </a:lnTo>
                  <a:lnTo>
                    <a:pt x="358368" y="751395"/>
                  </a:lnTo>
                  <a:lnTo>
                    <a:pt x="353961" y="752144"/>
                  </a:lnTo>
                  <a:lnTo>
                    <a:pt x="323684" y="776541"/>
                  </a:lnTo>
                  <a:lnTo>
                    <a:pt x="325374" y="784644"/>
                  </a:lnTo>
                  <a:lnTo>
                    <a:pt x="329488" y="792657"/>
                  </a:lnTo>
                  <a:lnTo>
                    <a:pt x="346570" y="806145"/>
                  </a:lnTo>
                  <a:lnTo>
                    <a:pt x="374103" y="819353"/>
                  </a:lnTo>
                  <a:lnTo>
                    <a:pt x="404342" y="833132"/>
                  </a:lnTo>
                  <a:lnTo>
                    <a:pt x="429552" y="848360"/>
                  </a:lnTo>
                  <a:lnTo>
                    <a:pt x="445998" y="863549"/>
                  </a:lnTo>
                  <a:lnTo>
                    <a:pt x="460502" y="880084"/>
                  </a:lnTo>
                  <a:lnTo>
                    <a:pt x="474230" y="896239"/>
                  </a:lnTo>
                  <a:lnTo>
                    <a:pt x="488353" y="910259"/>
                  </a:lnTo>
                  <a:lnTo>
                    <a:pt x="502018" y="919619"/>
                  </a:lnTo>
                  <a:lnTo>
                    <a:pt x="517232" y="927150"/>
                  </a:lnTo>
                  <a:lnTo>
                    <a:pt x="530136" y="934491"/>
                  </a:lnTo>
                  <a:lnTo>
                    <a:pt x="536841" y="943267"/>
                  </a:lnTo>
                  <a:lnTo>
                    <a:pt x="535038" y="954163"/>
                  </a:lnTo>
                  <a:lnTo>
                    <a:pt x="527037" y="966228"/>
                  </a:lnTo>
                  <a:lnTo>
                    <a:pt x="515950" y="978662"/>
                  </a:lnTo>
                  <a:lnTo>
                    <a:pt x="504863" y="990727"/>
                  </a:lnTo>
                  <a:lnTo>
                    <a:pt x="489775" y="1004189"/>
                  </a:lnTo>
                  <a:lnTo>
                    <a:pt x="472363" y="1017155"/>
                  </a:lnTo>
                  <a:lnTo>
                    <a:pt x="454952" y="1030325"/>
                  </a:lnTo>
                  <a:lnTo>
                    <a:pt x="427088" y="1059065"/>
                  </a:lnTo>
                  <a:lnTo>
                    <a:pt x="401701" y="1103172"/>
                  </a:lnTo>
                  <a:lnTo>
                    <a:pt x="402348" y="1111288"/>
                  </a:lnTo>
                  <a:lnTo>
                    <a:pt x="402996" y="1113066"/>
                  </a:lnTo>
                  <a:lnTo>
                    <a:pt x="403098" y="1113358"/>
                  </a:lnTo>
                  <a:lnTo>
                    <a:pt x="403415" y="1116558"/>
                  </a:lnTo>
                  <a:lnTo>
                    <a:pt x="403504" y="1117371"/>
                  </a:lnTo>
                  <a:lnTo>
                    <a:pt x="406857" y="1123797"/>
                  </a:lnTo>
                  <a:lnTo>
                    <a:pt x="408889" y="1124940"/>
                  </a:lnTo>
                  <a:lnTo>
                    <a:pt x="408635" y="1124788"/>
                  </a:lnTo>
                  <a:lnTo>
                    <a:pt x="408787" y="1124788"/>
                  </a:lnTo>
                  <a:lnTo>
                    <a:pt x="408889" y="1124940"/>
                  </a:lnTo>
                  <a:lnTo>
                    <a:pt x="409829" y="1126375"/>
                  </a:lnTo>
                  <a:lnTo>
                    <a:pt x="415112" y="1131023"/>
                  </a:lnTo>
                  <a:lnTo>
                    <a:pt x="422554" y="1132090"/>
                  </a:lnTo>
                  <a:lnTo>
                    <a:pt x="431355" y="1131023"/>
                  </a:lnTo>
                  <a:lnTo>
                    <a:pt x="435927" y="1129601"/>
                  </a:lnTo>
                  <a:lnTo>
                    <a:pt x="439775" y="1128407"/>
                  </a:lnTo>
                  <a:lnTo>
                    <a:pt x="441083" y="1127658"/>
                  </a:lnTo>
                  <a:lnTo>
                    <a:pt x="443992" y="1126896"/>
                  </a:lnTo>
                  <a:lnTo>
                    <a:pt x="445820" y="1125004"/>
                  </a:lnTo>
                  <a:lnTo>
                    <a:pt x="443344" y="1126375"/>
                  </a:lnTo>
                  <a:lnTo>
                    <a:pt x="445922" y="1124902"/>
                  </a:lnTo>
                  <a:lnTo>
                    <a:pt x="446049" y="1124788"/>
                  </a:lnTo>
                  <a:lnTo>
                    <a:pt x="446163" y="1124635"/>
                  </a:lnTo>
                  <a:lnTo>
                    <a:pt x="446760" y="1123797"/>
                  </a:lnTo>
                  <a:lnTo>
                    <a:pt x="446278" y="1124635"/>
                  </a:lnTo>
                  <a:lnTo>
                    <a:pt x="447090" y="1123797"/>
                  </a:lnTo>
                  <a:lnTo>
                    <a:pt x="454329" y="1116558"/>
                  </a:lnTo>
                  <a:lnTo>
                    <a:pt x="463207" y="1100721"/>
                  </a:lnTo>
                  <a:lnTo>
                    <a:pt x="496112" y="1058341"/>
                  </a:lnTo>
                  <a:lnTo>
                    <a:pt x="525411" y="1040257"/>
                  </a:lnTo>
                  <a:lnTo>
                    <a:pt x="538899" y="1028890"/>
                  </a:lnTo>
                  <a:lnTo>
                    <a:pt x="553859" y="1009891"/>
                  </a:lnTo>
                  <a:lnTo>
                    <a:pt x="568820" y="987501"/>
                  </a:lnTo>
                  <a:lnTo>
                    <a:pt x="580682" y="964920"/>
                  </a:lnTo>
                  <a:lnTo>
                    <a:pt x="586359" y="945337"/>
                  </a:lnTo>
                  <a:close/>
                </a:path>
                <a:path w="9394825" h="4921250">
                  <a:moveTo>
                    <a:pt x="651573" y="4722050"/>
                  </a:moveTo>
                  <a:lnTo>
                    <a:pt x="609498" y="4673549"/>
                  </a:lnTo>
                  <a:lnTo>
                    <a:pt x="566737" y="4632960"/>
                  </a:lnTo>
                  <a:lnTo>
                    <a:pt x="502361" y="4574019"/>
                  </a:lnTo>
                  <a:lnTo>
                    <a:pt x="412013" y="4493006"/>
                  </a:lnTo>
                  <a:lnTo>
                    <a:pt x="409181" y="4492866"/>
                  </a:lnTo>
                  <a:lnTo>
                    <a:pt x="396925" y="4492866"/>
                  </a:lnTo>
                  <a:lnTo>
                    <a:pt x="385470" y="4494301"/>
                  </a:lnTo>
                  <a:lnTo>
                    <a:pt x="377977" y="4498162"/>
                  </a:lnTo>
                  <a:lnTo>
                    <a:pt x="375069" y="4504487"/>
                  </a:lnTo>
                  <a:lnTo>
                    <a:pt x="374103" y="4513250"/>
                  </a:lnTo>
                  <a:lnTo>
                    <a:pt x="375069" y="4522965"/>
                  </a:lnTo>
                  <a:lnTo>
                    <a:pt x="377977" y="4532198"/>
                  </a:lnTo>
                  <a:lnTo>
                    <a:pt x="389953" y="4544898"/>
                  </a:lnTo>
                  <a:lnTo>
                    <a:pt x="408787" y="4557217"/>
                  </a:lnTo>
                  <a:lnTo>
                    <a:pt x="429755" y="4569917"/>
                  </a:lnTo>
                  <a:lnTo>
                    <a:pt x="448119" y="4583785"/>
                  </a:lnTo>
                  <a:lnTo>
                    <a:pt x="461238" y="4597616"/>
                  </a:lnTo>
                  <a:lnTo>
                    <a:pt x="484390" y="4627588"/>
                  </a:lnTo>
                  <a:lnTo>
                    <a:pt x="498665" y="4642586"/>
                  </a:lnTo>
                  <a:lnTo>
                    <a:pt x="528243" y="4662602"/>
                  </a:lnTo>
                  <a:lnTo>
                    <a:pt x="565073" y="4683582"/>
                  </a:lnTo>
                  <a:lnTo>
                    <a:pt x="596303" y="4702645"/>
                  </a:lnTo>
                  <a:lnTo>
                    <a:pt x="609053" y="4716856"/>
                  </a:lnTo>
                  <a:lnTo>
                    <a:pt x="605180" y="4721453"/>
                  </a:lnTo>
                  <a:lnTo>
                    <a:pt x="596671" y="4724209"/>
                  </a:lnTo>
                  <a:lnTo>
                    <a:pt x="585838" y="4727156"/>
                  </a:lnTo>
                  <a:lnTo>
                    <a:pt x="575005" y="4732325"/>
                  </a:lnTo>
                  <a:lnTo>
                    <a:pt x="515950" y="4779137"/>
                  </a:lnTo>
                  <a:lnTo>
                    <a:pt x="483908" y="4808486"/>
                  </a:lnTo>
                  <a:lnTo>
                    <a:pt x="446100" y="4848771"/>
                  </a:lnTo>
                  <a:lnTo>
                    <a:pt x="421297" y="4887074"/>
                  </a:lnTo>
                  <a:lnTo>
                    <a:pt x="421513" y="4893259"/>
                  </a:lnTo>
                  <a:lnTo>
                    <a:pt x="421640" y="4894885"/>
                  </a:lnTo>
                  <a:lnTo>
                    <a:pt x="421690" y="4893259"/>
                  </a:lnTo>
                  <a:lnTo>
                    <a:pt x="421741" y="4896332"/>
                  </a:lnTo>
                  <a:lnTo>
                    <a:pt x="421830" y="4902162"/>
                  </a:lnTo>
                  <a:lnTo>
                    <a:pt x="424395" y="4908728"/>
                  </a:lnTo>
                  <a:lnTo>
                    <a:pt x="426593" y="4910366"/>
                  </a:lnTo>
                  <a:lnTo>
                    <a:pt x="427240" y="4911737"/>
                  </a:lnTo>
                  <a:lnTo>
                    <a:pt x="431609" y="4916983"/>
                  </a:lnTo>
                  <a:lnTo>
                    <a:pt x="437083" y="4919484"/>
                  </a:lnTo>
                  <a:lnTo>
                    <a:pt x="443611" y="4920729"/>
                  </a:lnTo>
                  <a:lnTo>
                    <a:pt x="449897" y="4920729"/>
                  </a:lnTo>
                  <a:lnTo>
                    <a:pt x="456374" y="4919053"/>
                  </a:lnTo>
                  <a:lnTo>
                    <a:pt x="457060" y="4918456"/>
                  </a:lnTo>
                  <a:lnTo>
                    <a:pt x="458292" y="4917376"/>
                  </a:lnTo>
                  <a:lnTo>
                    <a:pt x="460502" y="4916983"/>
                  </a:lnTo>
                  <a:lnTo>
                    <a:pt x="465823" y="4911242"/>
                  </a:lnTo>
                  <a:lnTo>
                    <a:pt x="469011" y="4902797"/>
                  </a:lnTo>
                  <a:lnTo>
                    <a:pt x="469201" y="4902162"/>
                  </a:lnTo>
                  <a:lnTo>
                    <a:pt x="468858" y="4902746"/>
                  </a:lnTo>
                  <a:lnTo>
                    <a:pt x="469303" y="4901793"/>
                  </a:lnTo>
                  <a:lnTo>
                    <a:pt x="470446" y="4899317"/>
                  </a:lnTo>
                  <a:lnTo>
                    <a:pt x="471030" y="4896332"/>
                  </a:lnTo>
                  <a:lnTo>
                    <a:pt x="470903" y="4896332"/>
                  </a:lnTo>
                  <a:lnTo>
                    <a:pt x="471144" y="4895786"/>
                  </a:lnTo>
                  <a:lnTo>
                    <a:pt x="485978" y="4871263"/>
                  </a:lnTo>
                  <a:lnTo>
                    <a:pt x="496608" y="4859350"/>
                  </a:lnTo>
                  <a:lnTo>
                    <a:pt x="508762" y="4847564"/>
                  </a:lnTo>
                  <a:lnTo>
                    <a:pt x="520331" y="4838585"/>
                  </a:lnTo>
                  <a:lnTo>
                    <a:pt x="527596" y="4835372"/>
                  </a:lnTo>
                  <a:lnTo>
                    <a:pt x="534390" y="4833810"/>
                  </a:lnTo>
                  <a:lnTo>
                    <a:pt x="541362" y="4832058"/>
                  </a:lnTo>
                  <a:lnTo>
                    <a:pt x="596277" y="4790999"/>
                  </a:lnTo>
                  <a:lnTo>
                    <a:pt x="637933" y="4749863"/>
                  </a:lnTo>
                  <a:lnTo>
                    <a:pt x="651446" y="4724209"/>
                  </a:lnTo>
                  <a:lnTo>
                    <a:pt x="651573" y="4722050"/>
                  </a:lnTo>
                  <a:close/>
                </a:path>
                <a:path w="9394825" h="4921250">
                  <a:moveTo>
                    <a:pt x="3361537" y="2893631"/>
                  </a:moveTo>
                  <a:lnTo>
                    <a:pt x="3356191" y="2884741"/>
                  </a:lnTo>
                  <a:lnTo>
                    <a:pt x="3348977" y="2881642"/>
                  </a:lnTo>
                  <a:lnTo>
                    <a:pt x="3342132" y="2879712"/>
                  </a:lnTo>
                  <a:lnTo>
                    <a:pt x="3333115" y="2879712"/>
                  </a:lnTo>
                  <a:lnTo>
                    <a:pt x="3324453" y="2881503"/>
                  </a:lnTo>
                  <a:lnTo>
                    <a:pt x="3318027" y="2884741"/>
                  </a:lnTo>
                  <a:lnTo>
                    <a:pt x="3312871" y="2889897"/>
                  </a:lnTo>
                  <a:lnTo>
                    <a:pt x="3312744" y="2890228"/>
                  </a:lnTo>
                  <a:lnTo>
                    <a:pt x="3276460" y="2886570"/>
                  </a:lnTo>
                  <a:lnTo>
                    <a:pt x="3197847" y="2881871"/>
                  </a:lnTo>
                  <a:lnTo>
                    <a:pt x="3081794" y="2877515"/>
                  </a:lnTo>
                  <a:lnTo>
                    <a:pt x="3065284" y="2883712"/>
                  </a:lnTo>
                  <a:lnTo>
                    <a:pt x="3057029" y="2894025"/>
                  </a:lnTo>
                  <a:lnTo>
                    <a:pt x="3055594" y="2899041"/>
                  </a:lnTo>
                  <a:lnTo>
                    <a:pt x="3055594" y="2904388"/>
                  </a:lnTo>
                  <a:lnTo>
                    <a:pt x="3119869" y="2936722"/>
                  </a:lnTo>
                  <a:lnTo>
                    <a:pt x="3177209" y="2940837"/>
                  </a:lnTo>
                  <a:lnTo>
                    <a:pt x="3240887" y="2941129"/>
                  </a:lnTo>
                  <a:lnTo>
                    <a:pt x="3297986" y="2937319"/>
                  </a:lnTo>
                  <a:lnTo>
                    <a:pt x="3335566" y="2929102"/>
                  </a:lnTo>
                  <a:lnTo>
                    <a:pt x="3339046" y="2927261"/>
                  </a:lnTo>
                  <a:lnTo>
                    <a:pt x="3341192" y="2926550"/>
                  </a:lnTo>
                  <a:lnTo>
                    <a:pt x="3343706" y="2924797"/>
                  </a:lnTo>
                  <a:lnTo>
                    <a:pt x="3344087" y="2924530"/>
                  </a:lnTo>
                  <a:lnTo>
                    <a:pt x="3345980" y="2923603"/>
                  </a:lnTo>
                  <a:lnTo>
                    <a:pt x="3348342" y="2921571"/>
                  </a:lnTo>
                  <a:lnTo>
                    <a:pt x="3348647" y="2921355"/>
                  </a:lnTo>
                  <a:lnTo>
                    <a:pt x="3348799" y="2921228"/>
                  </a:lnTo>
                  <a:lnTo>
                    <a:pt x="3350133" y="2920327"/>
                  </a:lnTo>
                  <a:lnTo>
                    <a:pt x="3351517" y="2918904"/>
                  </a:lnTo>
                  <a:lnTo>
                    <a:pt x="3349802" y="2920327"/>
                  </a:lnTo>
                  <a:lnTo>
                    <a:pt x="3351822" y="2918599"/>
                  </a:lnTo>
                  <a:lnTo>
                    <a:pt x="3353879" y="2916847"/>
                  </a:lnTo>
                  <a:lnTo>
                    <a:pt x="3354768" y="2915589"/>
                  </a:lnTo>
                  <a:lnTo>
                    <a:pt x="3357727" y="2912554"/>
                  </a:lnTo>
                  <a:lnTo>
                    <a:pt x="3361359" y="2905366"/>
                  </a:lnTo>
                  <a:lnTo>
                    <a:pt x="3360877" y="2903778"/>
                  </a:lnTo>
                  <a:lnTo>
                    <a:pt x="3361359" y="2902280"/>
                  </a:lnTo>
                  <a:lnTo>
                    <a:pt x="3361499" y="2901238"/>
                  </a:lnTo>
                  <a:lnTo>
                    <a:pt x="3361537" y="2893631"/>
                  </a:lnTo>
                  <a:close/>
                </a:path>
                <a:path w="9394825" h="4921250">
                  <a:moveTo>
                    <a:pt x="3595446" y="2939745"/>
                  </a:moveTo>
                  <a:lnTo>
                    <a:pt x="3573830" y="2885059"/>
                  </a:lnTo>
                  <a:lnTo>
                    <a:pt x="3547046" y="2847340"/>
                  </a:lnTo>
                  <a:lnTo>
                    <a:pt x="3516388" y="2808465"/>
                  </a:lnTo>
                  <a:lnTo>
                    <a:pt x="3488245" y="2775394"/>
                  </a:lnTo>
                  <a:lnTo>
                    <a:pt x="3445040" y="2733090"/>
                  </a:lnTo>
                  <a:lnTo>
                    <a:pt x="3384054" y="2693898"/>
                  </a:lnTo>
                  <a:lnTo>
                    <a:pt x="3379774" y="2694660"/>
                  </a:lnTo>
                  <a:lnTo>
                    <a:pt x="3369995" y="2696984"/>
                  </a:lnTo>
                  <a:lnTo>
                    <a:pt x="3359239" y="2700858"/>
                  </a:lnTo>
                  <a:lnTo>
                    <a:pt x="3352076" y="2706268"/>
                  </a:lnTo>
                  <a:lnTo>
                    <a:pt x="3350082" y="2712237"/>
                  </a:lnTo>
                  <a:lnTo>
                    <a:pt x="3350133" y="2719946"/>
                  </a:lnTo>
                  <a:lnTo>
                    <a:pt x="3382581" y="2747340"/>
                  </a:lnTo>
                  <a:lnTo>
                    <a:pt x="3393338" y="2752699"/>
                  </a:lnTo>
                  <a:lnTo>
                    <a:pt x="3407295" y="2764205"/>
                  </a:lnTo>
                  <a:lnTo>
                    <a:pt x="3421443" y="2778226"/>
                  </a:lnTo>
                  <a:lnTo>
                    <a:pt x="3435985" y="2794177"/>
                  </a:lnTo>
                  <a:lnTo>
                    <a:pt x="3451098" y="2811500"/>
                  </a:lnTo>
                  <a:lnTo>
                    <a:pt x="3508743" y="2871584"/>
                  </a:lnTo>
                  <a:lnTo>
                    <a:pt x="3533940" y="2904045"/>
                  </a:lnTo>
                  <a:lnTo>
                    <a:pt x="3543947" y="2933217"/>
                  </a:lnTo>
                  <a:lnTo>
                    <a:pt x="3537305" y="2952585"/>
                  </a:lnTo>
                  <a:lnTo>
                    <a:pt x="3501580" y="2987040"/>
                  </a:lnTo>
                  <a:lnTo>
                    <a:pt x="3455505" y="3017393"/>
                  </a:lnTo>
                  <a:lnTo>
                    <a:pt x="3440785" y="3023920"/>
                  </a:lnTo>
                  <a:lnTo>
                    <a:pt x="3440785" y="3064230"/>
                  </a:lnTo>
                  <a:lnTo>
                    <a:pt x="3440696" y="3064497"/>
                  </a:lnTo>
                  <a:lnTo>
                    <a:pt x="3436658" y="3075584"/>
                  </a:lnTo>
                  <a:lnTo>
                    <a:pt x="3440785" y="3064230"/>
                  </a:lnTo>
                  <a:lnTo>
                    <a:pt x="3440785" y="3023920"/>
                  </a:lnTo>
                  <a:lnTo>
                    <a:pt x="3425444" y="3030715"/>
                  </a:lnTo>
                  <a:lnTo>
                    <a:pt x="3397897" y="3043250"/>
                  </a:lnTo>
                  <a:lnTo>
                    <a:pt x="3386899" y="3051048"/>
                  </a:lnTo>
                  <a:lnTo>
                    <a:pt x="3384054" y="3051860"/>
                  </a:lnTo>
                  <a:lnTo>
                    <a:pt x="3378885" y="3054947"/>
                  </a:lnTo>
                  <a:lnTo>
                    <a:pt x="3377209" y="3059138"/>
                  </a:lnTo>
                  <a:lnTo>
                    <a:pt x="3375418" y="3061246"/>
                  </a:lnTo>
                  <a:lnTo>
                    <a:pt x="3375418" y="3082810"/>
                  </a:lnTo>
                  <a:lnTo>
                    <a:pt x="3374644" y="3075584"/>
                  </a:lnTo>
                  <a:lnTo>
                    <a:pt x="3374745" y="3073514"/>
                  </a:lnTo>
                  <a:lnTo>
                    <a:pt x="3374860" y="3071457"/>
                  </a:lnTo>
                  <a:lnTo>
                    <a:pt x="3374847" y="3077413"/>
                  </a:lnTo>
                  <a:lnTo>
                    <a:pt x="3375418" y="3082810"/>
                  </a:lnTo>
                  <a:lnTo>
                    <a:pt x="3375418" y="3061246"/>
                  </a:lnTo>
                  <a:lnTo>
                    <a:pt x="3374961" y="3061779"/>
                  </a:lnTo>
                  <a:lnTo>
                    <a:pt x="3373717" y="3063290"/>
                  </a:lnTo>
                  <a:lnTo>
                    <a:pt x="3373628" y="3063608"/>
                  </a:lnTo>
                  <a:lnTo>
                    <a:pt x="3371672" y="3071457"/>
                  </a:lnTo>
                  <a:lnTo>
                    <a:pt x="3371761" y="3071774"/>
                  </a:lnTo>
                  <a:lnTo>
                    <a:pt x="3373729" y="3078683"/>
                  </a:lnTo>
                  <a:lnTo>
                    <a:pt x="3374771" y="3085896"/>
                  </a:lnTo>
                  <a:lnTo>
                    <a:pt x="3377476" y="3089694"/>
                  </a:lnTo>
                  <a:lnTo>
                    <a:pt x="3377692" y="3089884"/>
                  </a:lnTo>
                  <a:lnTo>
                    <a:pt x="3380752" y="3092399"/>
                  </a:lnTo>
                  <a:lnTo>
                    <a:pt x="3377615" y="3089884"/>
                  </a:lnTo>
                  <a:lnTo>
                    <a:pt x="3379927" y="3093123"/>
                  </a:lnTo>
                  <a:lnTo>
                    <a:pt x="3388169" y="3097250"/>
                  </a:lnTo>
                  <a:lnTo>
                    <a:pt x="3406991" y="3102521"/>
                  </a:lnTo>
                  <a:lnTo>
                    <a:pt x="3433432" y="3105366"/>
                  </a:lnTo>
                  <a:lnTo>
                    <a:pt x="3456279" y="3104997"/>
                  </a:lnTo>
                  <a:lnTo>
                    <a:pt x="3457295" y="3105505"/>
                  </a:lnTo>
                  <a:lnTo>
                    <a:pt x="3468636" y="3105505"/>
                  </a:lnTo>
                  <a:lnTo>
                    <a:pt x="3469652" y="3104997"/>
                  </a:lnTo>
                  <a:lnTo>
                    <a:pt x="3474605" y="3102521"/>
                  </a:lnTo>
                  <a:lnTo>
                    <a:pt x="3476447" y="3100717"/>
                  </a:lnTo>
                  <a:lnTo>
                    <a:pt x="3477920" y="3100336"/>
                  </a:lnTo>
                  <a:lnTo>
                    <a:pt x="3485146" y="3096222"/>
                  </a:lnTo>
                  <a:lnTo>
                    <a:pt x="3489274" y="3085896"/>
                  </a:lnTo>
                  <a:lnTo>
                    <a:pt x="3488245" y="3078683"/>
                  </a:lnTo>
                  <a:lnTo>
                    <a:pt x="3487890" y="3077413"/>
                  </a:lnTo>
                  <a:lnTo>
                    <a:pt x="3488245" y="3073514"/>
                  </a:lnTo>
                  <a:lnTo>
                    <a:pt x="3487204" y="3066300"/>
                  </a:lnTo>
                  <a:lnTo>
                    <a:pt x="3482683" y="3061779"/>
                  </a:lnTo>
                  <a:lnTo>
                    <a:pt x="3503701" y="3047403"/>
                  </a:lnTo>
                  <a:lnTo>
                    <a:pt x="3547046" y="3011106"/>
                  </a:lnTo>
                  <a:lnTo>
                    <a:pt x="3580053" y="2975521"/>
                  </a:lnTo>
                  <a:lnTo>
                    <a:pt x="3594493" y="2946628"/>
                  </a:lnTo>
                  <a:lnTo>
                    <a:pt x="3595446" y="2939745"/>
                  </a:lnTo>
                  <a:close/>
                </a:path>
                <a:path w="9394825" h="4921250">
                  <a:moveTo>
                    <a:pt x="9394673" y="121183"/>
                  </a:moveTo>
                  <a:lnTo>
                    <a:pt x="9394139" y="117995"/>
                  </a:lnTo>
                  <a:lnTo>
                    <a:pt x="9393110" y="110769"/>
                  </a:lnTo>
                  <a:lnTo>
                    <a:pt x="9388983" y="104584"/>
                  </a:lnTo>
                  <a:lnTo>
                    <a:pt x="9386913" y="101485"/>
                  </a:lnTo>
                  <a:lnTo>
                    <a:pt x="9379699" y="98386"/>
                  </a:lnTo>
                  <a:lnTo>
                    <a:pt x="9374099" y="96520"/>
                  </a:lnTo>
                  <a:lnTo>
                    <a:pt x="9372143" y="96316"/>
                  </a:lnTo>
                  <a:lnTo>
                    <a:pt x="9367444" y="95808"/>
                  </a:lnTo>
                  <a:lnTo>
                    <a:pt x="9360979" y="96647"/>
                  </a:lnTo>
                  <a:lnTo>
                    <a:pt x="9360129" y="97129"/>
                  </a:lnTo>
                  <a:lnTo>
                    <a:pt x="9358033" y="97358"/>
                  </a:lnTo>
                  <a:lnTo>
                    <a:pt x="9335110" y="111899"/>
                  </a:lnTo>
                  <a:lnTo>
                    <a:pt x="9307741" y="139395"/>
                  </a:lnTo>
                  <a:lnTo>
                    <a:pt x="9277667" y="171932"/>
                  </a:lnTo>
                  <a:lnTo>
                    <a:pt x="9210230" y="236042"/>
                  </a:lnTo>
                  <a:lnTo>
                    <a:pt x="9170543" y="274789"/>
                  </a:lnTo>
                  <a:lnTo>
                    <a:pt x="9132011" y="304266"/>
                  </a:lnTo>
                  <a:lnTo>
                    <a:pt x="9099105" y="310896"/>
                  </a:lnTo>
                  <a:lnTo>
                    <a:pt x="9079687" y="292468"/>
                  </a:lnTo>
                  <a:lnTo>
                    <a:pt x="9063012" y="254736"/>
                  </a:lnTo>
                  <a:lnTo>
                    <a:pt x="9047785" y="204203"/>
                  </a:lnTo>
                  <a:lnTo>
                    <a:pt x="9032697" y="147320"/>
                  </a:lnTo>
                  <a:lnTo>
                    <a:pt x="9016454" y="90601"/>
                  </a:lnTo>
                  <a:lnTo>
                    <a:pt x="8997759" y="40487"/>
                  </a:lnTo>
                  <a:lnTo>
                    <a:pt x="8975306" y="3479"/>
                  </a:lnTo>
                  <a:lnTo>
                    <a:pt x="8953551" y="0"/>
                  </a:lnTo>
                  <a:lnTo>
                    <a:pt x="8946426" y="1422"/>
                  </a:lnTo>
                  <a:lnTo>
                    <a:pt x="8941156" y="6045"/>
                  </a:lnTo>
                  <a:lnTo>
                    <a:pt x="8936749" y="12903"/>
                  </a:lnTo>
                  <a:lnTo>
                    <a:pt x="8934094" y="20713"/>
                  </a:lnTo>
                  <a:lnTo>
                    <a:pt x="8934044" y="28244"/>
                  </a:lnTo>
                  <a:lnTo>
                    <a:pt x="8938806" y="35915"/>
                  </a:lnTo>
                  <a:lnTo>
                    <a:pt x="8948102" y="43205"/>
                  </a:lnTo>
                  <a:lnTo>
                    <a:pt x="8959139" y="52031"/>
                  </a:lnTo>
                  <a:lnTo>
                    <a:pt x="8969121" y="64350"/>
                  </a:lnTo>
                  <a:lnTo>
                    <a:pt x="8984094" y="99021"/>
                  </a:lnTo>
                  <a:lnTo>
                    <a:pt x="8984209" y="99428"/>
                  </a:lnTo>
                  <a:lnTo>
                    <a:pt x="8999118" y="149898"/>
                  </a:lnTo>
                  <a:lnTo>
                    <a:pt x="9014257" y="208381"/>
                  </a:lnTo>
                  <a:lnTo>
                    <a:pt x="9029560" y="265938"/>
                  </a:lnTo>
                  <a:lnTo>
                    <a:pt x="9045105" y="313969"/>
                  </a:lnTo>
                  <a:lnTo>
                    <a:pt x="9069159" y="351713"/>
                  </a:lnTo>
                  <a:lnTo>
                    <a:pt x="9094978" y="360413"/>
                  </a:lnTo>
                  <a:lnTo>
                    <a:pt x="9109812" y="357619"/>
                  </a:lnTo>
                  <a:lnTo>
                    <a:pt x="9162034" y="329476"/>
                  </a:lnTo>
                  <a:lnTo>
                    <a:pt x="9190203" y="310896"/>
                  </a:lnTo>
                  <a:lnTo>
                    <a:pt x="9218117" y="290525"/>
                  </a:lnTo>
                  <a:lnTo>
                    <a:pt x="9276537" y="243852"/>
                  </a:lnTo>
                  <a:lnTo>
                    <a:pt x="9307716" y="217424"/>
                  </a:lnTo>
                  <a:lnTo>
                    <a:pt x="9340240" y="188785"/>
                  </a:lnTo>
                  <a:lnTo>
                    <a:pt x="9368511" y="161886"/>
                  </a:lnTo>
                  <a:lnTo>
                    <a:pt x="9393110" y="131406"/>
                  </a:lnTo>
                  <a:lnTo>
                    <a:pt x="9394673" y="125933"/>
                  </a:lnTo>
                  <a:lnTo>
                    <a:pt x="9394673" y="12118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94384" y="381310"/>
            <a:ext cx="169037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/>
              <a:t>2.</a:t>
            </a:r>
            <a:r>
              <a:rPr sz="3000" spc="-30" dirty="0"/>
              <a:t> Results</a:t>
            </a:r>
            <a:endParaRPr sz="3000"/>
          </a:p>
        </p:txBody>
      </p:sp>
      <p:sp>
        <p:nvSpPr>
          <p:cNvPr id="6" name="object 6"/>
          <p:cNvSpPr txBox="1"/>
          <p:nvPr/>
        </p:nvSpPr>
        <p:spPr>
          <a:xfrm>
            <a:off x="14299297" y="3186870"/>
            <a:ext cx="241935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spc="-10" dirty="0">
                <a:solidFill>
                  <a:srgbClr val="FFFFFF"/>
                </a:solidFill>
                <a:latin typeface="Roboto"/>
                <a:cs typeface="Roboto"/>
              </a:rPr>
              <a:t>Docker</a:t>
            </a:r>
            <a:r>
              <a:rPr sz="2500" spc="-114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500" spc="-10" dirty="0">
                <a:solidFill>
                  <a:srgbClr val="FFFFFF"/>
                </a:solidFill>
                <a:latin typeface="Roboto"/>
                <a:cs typeface="Roboto"/>
              </a:rPr>
              <a:t>container</a:t>
            </a:r>
            <a:endParaRPr sz="2500">
              <a:latin typeface="Roboto"/>
              <a:cs typeface="Robo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371518" y="3442218"/>
            <a:ext cx="1544955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dirty="0">
                <a:solidFill>
                  <a:srgbClr val="FFFFFF"/>
                </a:solidFill>
                <a:latin typeface="Roboto"/>
                <a:cs typeface="Roboto"/>
              </a:rPr>
              <a:t>Pod</a:t>
            </a:r>
            <a:r>
              <a:rPr sz="2500" spc="-7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500" spc="-20" dirty="0">
                <a:solidFill>
                  <a:srgbClr val="FFFFFF"/>
                </a:solidFill>
                <a:latin typeface="Roboto"/>
                <a:cs typeface="Roboto"/>
              </a:rPr>
              <a:t>status</a:t>
            </a:r>
            <a:endParaRPr sz="2500">
              <a:latin typeface="Roboto"/>
              <a:cs typeface="Robot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314742" y="5399159"/>
            <a:ext cx="1221105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spc="-10" dirty="0">
                <a:solidFill>
                  <a:srgbClr val="FFFFFF"/>
                </a:solidFill>
                <a:latin typeface="Roboto"/>
                <a:cs typeface="Roboto"/>
              </a:rPr>
              <a:t>Services</a:t>
            </a:r>
            <a:endParaRPr sz="2500">
              <a:latin typeface="Roboto"/>
              <a:cs typeface="Roboto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371518" y="7207550"/>
            <a:ext cx="1875155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spc="-25" dirty="0">
                <a:solidFill>
                  <a:srgbClr val="FFFFFF"/>
                </a:solidFill>
                <a:latin typeface="Roboto"/>
                <a:cs typeface="Roboto"/>
              </a:rPr>
              <a:t>Deployments</a:t>
            </a:r>
            <a:endParaRPr sz="2500">
              <a:latin typeface="Roboto"/>
              <a:cs typeface="Robot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884800" y="9114821"/>
            <a:ext cx="168402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spc="-20" dirty="0">
                <a:solidFill>
                  <a:srgbClr val="FFFFFF"/>
                </a:solidFill>
                <a:latin typeface="Roboto"/>
                <a:cs typeface="Roboto"/>
              </a:rPr>
              <a:t>ReplicaSets</a:t>
            </a:r>
            <a:endParaRPr sz="2500">
              <a:latin typeface="Roboto"/>
              <a:cs typeface="Roboto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032153" y="9154490"/>
            <a:ext cx="656590" cy="380365"/>
          </a:xfrm>
          <a:custGeom>
            <a:avLst/>
            <a:gdLst/>
            <a:ahLst/>
            <a:cxnLst/>
            <a:rect l="l" t="t" r="r" b="b"/>
            <a:pathLst>
              <a:path w="656590" h="380365">
                <a:moveTo>
                  <a:pt x="408139" y="181610"/>
                </a:moveTo>
                <a:lnTo>
                  <a:pt x="403186" y="173355"/>
                </a:lnTo>
                <a:lnTo>
                  <a:pt x="396519" y="169545"/>
                </a:lnTo>
                <a:lnTo>
                  <a:pt x="390512" y="168224"/>
                </a:lnTo>
                <a:lnTo>
                  <a:pt x="381863" y="168224"/>
                </a:lnTo>
                <a:lnTo>
                  <a:pt x="373875" y="169938"/>
                </a:lnTo>
                <a:lnTo>
                  <a:pt x="367944" y="173355"/>
                </a:lnTo>
                <a:lnTo>
                  <a:pt x="364413" y="178701"/>
                </a:lnTo>
                <a:lnTo>
                  <a:pt x="364185" y="179527"/>
                </a:lnTo>
                <a:lnTo>
                  <a:pt x="357098" y="178701"/>
                </a:lnTo>
                <a:lnTo>
                  <a:pt x="310718" y="175437"/>
                </a:lnTo>
                <a:lnTo>
                  <a:pt x="242519" y="172288"/>
                </a:lnTo>
                <a:lnTo>
                  <a:pt x="24091" y="166687"/>
                </a:lnTo>
                <a:lnTo>
                  <a:pt x="20637" y="168884"/>
                </a:lnTo>
                <a:lnTo>
                  <a:pt x="0" y="189547"/>
                </a:lnTo>
                <a:lnTo>
                  <a:pt x="12" y="195681"/>
                </a:lnTo>
                <a:lnTo>
                  <a:pt x="4089" y="203835"/>
                </a:lnTo>
                <a:lnTo>
                  <a:pt x="12661" y="212407"/>
                </a:lnTo>
                <a:lnTo>
                  <a:pt x="15519" y="212407"/>
                </a:lnTo>
                <a:lnTo>
                  <a:pt x="24091" y="214312"/>
                </a:lnTo>
                <a:lnTo>
                  <a:pt x="54724" y="217805"/>
                </a:lnTo>
                <a:lnTo>
                  <a:pt x="105460" y="221310"/>
                </a:lnTo>
                <a:lnTo>
                  <a:pt x="168389" y="224104"/>
                </a:lnTo>
                <a:lnTo>
                  <a:pt x="235623" y="225501"/>
                </a:lnTo>
                <a:lnTo>
                  <a:pt x="299250" y="224802"/>
                </a:lnTo>
                <a:lnTo>
                  <a:pt x="351396" y="221310"/>
                </a:lnTo>
                <a:lnTo>
                  <a:pt x="384136" y="214312"/>
                </a:lnTo>
                <a:lnTo>
                  <a:pt x="388239" y="212001"/>
                </a:lnTo>
                <a:lnTo>
                  <a:pt x="389458" y="211543"/>
                </a:lnTo>
                <a:lnTo>
                  <a:pt x="391198" y="210350"/>
                </a:lnTo>
                <a:lnTo>
                  <a:pt x="394144" y="208699"/>
                </a:lnTo>
                <a:lnTo>
                  <a:pt x="395960" y="207086"/>
                </a:lnTo>
                <a:lnTo>
                  <a:pt x="397941" y="205740"/>
                </a:lnTo>
                <a:lnTo>
                  <a:pt x="400773" y="202831"/>
                </a:lnTo>
                <a:lnTo>
                  <a:pt x="401599" y="201980"/>
                </a:lnTo>
                <a:lnTo>
                  <a:pt x="404990" y="198501"/>
                </a:lnTo>
                <a:lnTo>
                  <a:pt x="407949" y="191452"/>
                </a:lnTo>
                <a:lnTo>
                  <a:pt x="407657" y="190423"/>
                </a:lnTo>
                <a:lnTo>
                  <a:pt x="407606" y="190246"/>
                </a:lnTo>
                <a:lnTo>
                  <a:pt x="407111" y="188468"/>
                </a:lnTo>
                <a:lnTo>
                  <a:pt x="407416" y="189547"/>
                </a:lnTo>
                <a:lnTo>
                  <a:pt x="407720" y="190246"/>
                </a:lnTo>
                <a:lnTo>
                  <a:pt x="407949" y="189547"/>
                </a:lnTo>
                <a:lnTo>
                  <a:pt x="408101" y="188468"/>
                </a:lnTo>
                <a:lnTo>
                  <a:pt x="408139" y="181610"/>
                </a:lnTo>
                <a:close/>
              </a:path>
              <a:path w="656590" h="380365">
                <a:moveTo>
                  <a:pt x="656031" y="165531"/>
                </a:moveTo>
                <a:lnTo>
                  <a:pt x="648931" y="127635"/>
                </a:lnTo>
                <a:lnTo>
                  <a:pt x="618807" y="100368"/>
                </a:lnTo>
                <a:lnTo>
                  <a:pt x="609320" y="97040"/>
                </a:lnTo>
                <a:lnTo>
                  <a:pt x="599401" y="92392"/>
                </a:lnTo>
                <a:lnTo>
                  <a:pt x="582612" y="80238"/>
                </a:lnTo>
                <a:lnTo>
                  <a:pt x="545820" y="48450"/>
                </a:lnTo>
                <a:lnTo>
                  <a:pt x="541858" y="45516"/>
                </a:lnTo>
                <a:lnTo>
                  <a:pt x="490093" y="19405"/>
                </a:lnTo>
                <a:lnTo>
                  <a:pt x="446252" y="10718"/>
                </a:lnTo>
                <a:lnTo>
                  <a:pt x="370801" y="0"/>
                </a:lnTo>
                <a:lnTo>
                  <a:pt x="367626" y="1435"/>
                </a:lnTo>
                <a:lnTo>
                  <a:pt x="360438" y="5118"/>
                </a:lnTo>
                <a:lnTo>
                  <a:pt x="352717" y="10045"/>
                </a:lnTo>
                <a:lnTo>
                  <a:pt x="347941" y="15240"/>
                </a:lnTo>
                <a:lnTo>
                  <a:pt x="347230" y="21805"/>
                </a:lnTo>
                <a:lnTo>
                  <a:pt x="348056" y="29286"/>
                </a:lnTo>
                <a:lnTo>
                  <a:pt x="350481" y="36398"/>
                </a:lnTo>
                <a:lnTo>
                  <a:pt x="354609" y="41910"/>
                </a:lnTo>
                <a:lnTo>
                  <a:pt x="370916" y="46685"/>
                </a:lnTo>
                <a:lnTo>
                  <a:pt x="395795" y="46545"/>
                </a:lnTo>
                <a:lnTo>
                  <a:pt x="423189" y="45516"/>
                </a:lnTo>
                <a:lnTo>
                  <a:pt x="447001" y="47625"/>
                </a:lnTo>
                <a:lnTo>
                  <a:pt x="462940" y="53314"/>
                </a:lnTo>
                <a:lnTo>
                  <a:pt x="477354" y="60363"/>
                </a:lnTo>
                <a:lnTo>
                  <a:pt x="491604" y="68643"/>
                </a:lnTo>
                <a:lnTo>
                  <a:pt x="507009" y="78105"/>
                </a:lnTo>
                <a:lnTo>
                  <a:pt x="530364" y="91224"/>
                </a:lnTo>
                <a:lnTo>
                  <a:pt x="579602" y="122834"/>
                </a:lnTo>
                <a:lnTo>
                  <a:pt x="607606" y="154774"/>
                </a:lnTo>
                <a:lnTo>
                  <a:pt x="610666" y="165531"/>
                </a:lnTo>
                <a:lnTo>
                  <a:pt x="610831" y="171450"/>
                </a:lnTo>
                <a:lnTo>
                  <a:pt x="603707" y="182765"/>
                </a:lnTo>
                <a:lnTo>
                  <a:pt x="590346" y="193471"/>
                </a:lnTo>
                <a:lnTo>
                  <a:pt x="574128" y="205066"/>
                </a:lnTo>
                <a:lnTo>
                  <a:pt x="558444" y="219075"/>
                </a:lnTo>
                <a:lnTo>
                  <a:pt x="531977" y="248666"/>
                </a:lnTo>
                <a:lnTo>
                  <a:pt x="501053" y="285153"/>
                </a:lnTo>
                <a:lnTo>
                  <a:pt x="474052" y="320738"/>
                </a:lnTo>
                <a:lnTo>
                  <a:pt x="456526" y="357187"/>
                </a:lnTo>
                <a:lnTo>
                  <a:pt x="457479" y="363855"/>
                </a:lnTo>
                <a:lnTo>
                  <a:pt x="465099" y="375285"/>
                </a:lnTo>
                <a:lnTo>
                  <a:pt x="474624" y="380047"/>
                </a:lnTo>
                <a:lnTo>
                  <a:pt x="481291" y="380047"/>
                </a:lnTo>
                <a:lnTo>
                  <a:pt x="482663" y="380238"/>
                </a:lnTo>
                <a:lnTo>
                  <a:pt x="489458" y="380238"/>
                </a:lnTo>
                <a:lnTo>
                  <a:pt x="493458" y="378244"/>
                </a:lnTo>
                <a:lnTo>
                  <a:pt x="497243" y="376351"/>
                </a:lnTo>
                <a:lnTo>
                  <a:pt x="497395" y="376351"/>
                </a:lnTo>
                <a:lnTo>
                  <a:pt x="500888" y="371119"/>
                </a:lnTo>
                <a:lnTo>
                  <a:pt x="512064" y="361734"/>
                </a:lnTo>
                <a:lnTo>
                  <a:pt x="532244" y="332892"/>
                </a:lnTo>
                <a:lnTo>
                  <a:pt x="532549" y="332422"/>
                </a:lnTo>
                <a:lnTo>
                  <a:pt x="553135" y="299758"/>
                </a:lnTo>
                <a:lnTo>
                  <a:pt x="573684" y="271462"/>
                </a:lnTo>
                <a:lnTo>
                  <a:pt x="592442" y="252730"/>
                </a:lnTo>
                <a:lnTo>
                  <a:pt x="612368" y="235267"/>
                </a:lnTo>
                <a:lnTo>
                  <a:pt x="630339" y="219214"/>
                </a:lnTo>
                <a:lnTo>
                  <a:pt x="653923" y="184416"/>
                </a:lnTo>
                <a:lnTo>
                  <a:pt x="655599" y="177165"/>
                </a:lnTo>
                <a:lnTo>
                  <a:pt x="656031" y="16553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529629" y="930151"/>
            <a:ext cx="4322445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dirty="0">
                <a:latin typeface="Roboto"/>
                <a:cs typeface="Roboto"/>
              </a:rPr>
              <a:t>A.</a:t>
            </a:r>
            <a:r>
              <a:rPr sz="2500" spc="-45" dirty="0">
                <a:latin typeface="Roboto"/>
                <a:cs typeface="Roboto"/>
              </a:rPr>
              <a:t> </a:t>
            </a:r>
            <a:r>
              <a:rPr sz="2500" dirty="0">
                <a:latin typeface="Roboto"/>
                <a:cs typeface="Roboto"/>
              </a:rPr>
              <a:t>CLI</a:t>
            </a:r>
            <a:r>
              <a:rPr sz="2500" spc="-45" dirty="0">
                <a:latin typeface="Roboto"/>
                <a:cs typeface="Roboto"/>
              </a:rPr>
              <a:t> </a:t>
            </a:r>
            <a:r>
              <a:rPr sz="2500" dirty="0">
                <a:latin typeface="Roboto"/>
                <a:cs typeface="Roboto"/>
              </a:rPr>
              <a:t>View</a:t>
            </a:r>
            <a:r>
              <a:rPr sz="2500" spc="-45" dirty="0">
                <a:latin typeface="Roboto"/>
                <a:cs typeface="Roboto"/>
              </a:rPr>
              <a:t> </a:t>
            </a:r>
            <a:r>
              <a:rPr sz="2500" dirty="0">
                <a:latin typeface="Roboto"/>
                <a:cs typeface="Roboto"/>
              </a:rPr>
              <a:t>from</a:t>
            </a:r>
            <a:r>
              <a:rPr sz="2500" spc="-40" dirty="0">
                <a:latin typeface="Roboto"/>
                <a:cs typeface="Roboto"/>
              </a:rPr>
              <a:t> </a:t>
            </a:r>
            <a:r>
              <a:rPr sz="2500" dirty="0">
                <a:latin typeface="Roboto"/>
                <a:cs typeface="Roboto"/>
              </a:rPr>
              <a:t>Cloud</a:t>
            </a:r>
            <a:r>
              <a:rPr sz="2500" spc="-45" dirty="0">
                <a:latin typeface="Roboto"/>
                <a:cs typeface="Roboto"/>
              </a:rPr>
              <a:t> </a:t>
            </a:r>
            <a:r>
              <a:rPr sz="2500" spc="-10" dirty="0">
                <a:latin typeface="Roboto"/>
                <a:cs typeface="Roboto"/>
              </a:rPr>
              <a:t>Server:</a:t>
            </a:r>
            <a:endParaRPr sz="25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9775" y="1217760"/>
            <a:ext cx="17849849" cy="884401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610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solidFill>
                  <a:srgbClr val="000000"/>
                </a:solidFill>
              </a:rPr>
              <a:t>B.</a:t>
            </a:r>
            <a:r>
              <a:rPr sz="3000" spc="-140" dirty="0">
                <a:solidFill>
                  <a:srgbClr val="000000"/>
                </a:solidFill>
              </a:rPr>
              <a:t> </a:t>
            </a:r>
            <a:r>
              <a:rPr sz="3000" spc="-10" dirty="0">
                <a:solidFill>
                  <a:srgbClr val="000000"/>
                </a:solidFill>
              </a:rPr>
              <a:t>Energy</a:t>
            </a:r>
            <a:r>
              <a:rPr sz="3000" spc="-140" dirty="0">
                <a:solidFill>
                  <a:srgbClr val="000000"/>
                </a:solidFill>
              </a:rPr>
              <a:t> </a:t>
            </a:r>
            <a:r>
              <a:rPr sz="3000" spc="-10" dirty="0">
                <a:solidFill>
                  <a:srgbClr val="000000"/>
                </a:solidFill>
              </a:rPr>
              <a:t>Consumption</a:t>
            </a:r>
            <a:r>
              <a:rPr sz="3000" spc="-135" dirty="0">
                <a:solidFill>
                  <a:srgbClr val="000000"/>
                </a:solidFill>
              </a:rPr>
              <a:t> </a:t>
            </a:r>
            <a:r>
              <a:rPr sz="3000" spc="-25" dirty="0">
                <a:solidFill>
                  <a:srgbClr val="000000"/>
                </a:solidFill>
              </a:rPr>
              <a:t>Summary</a:t>
            </a:r>
            <a:r>
              <a:rPr sz="3000" spc="-140" dirty="0">
                <a:solidFill>
                  <a:srgbClr val="000000"/>
                </a:solidFill>
              </a:rPr>
              <a:t> </a:t>
            </a:r>
            <a:r>
              <a:rPr sz="3000" spc="-10" dirty="0">
                <a:solidFill>
                  <a:srgbClr val="000000"/>
                </a:solidFill>
              </a:rPr>
              <a:t>Dashboard:</a:t>
            </a:r>
            <a:endParaRPr sz="3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13565" y="257149"/>
            <a:ext cx="6713625" cy="977562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6109" rIns="0" bIns="0" rtlCol="0">
            <a:spAutoFit/>
          </a:bodyPr>
          <a:lstStyle/>
          <a:p>
            <a:pPr marL="113664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solidFill>
                  <a:srgbClr val="000000"/>
                </a:solidFill>
              </a:rPr>
              <a:t>C.</a:t>
            </a:r>
            <a:r>
              <a:rPr sz="3000" spc="-110" dirty="0">
                <a:solidFill>
                  <a:srgbClr val="000000"/>
                </a:solidFill>
              </a:rPr>
              <a:t> </a:t>
            </a:r>
            <a:r>
              <a:rPr sz="3000" spc="-10" dirty="0">
                <a:solidFill>
                  <a:srgbClr val="000000"/>
                </a:solidFill>
              </a:rPr>
              <a:t>General</a:t>
            </a:r>
            <a:r>
              <a:rPr sz="3000" spc="-105" dirty="0">
                <a:solidFill>
                  <a:srgbClr val="000000"/>
                </a:solidFill>
              </a:rPr>
              <a:t> </a:t>
            </a:r>
            <a:r>
              <a:rPr sz="3000" spc="-10" dirty="0">
                <a:solidFill>
                  <a:srgbClr val="000000"/>
                </a:solidFill>
              </a:rPr>
              <a:t>Overview</a:t>
            </a:r>
            <a:r>
              <a:rPr sz="3000" spc="-110" dirty="0">
                <a:solidFill>
                  <a:srgbClr val="000000"/>
                </a:solidFill>
              </a:rPr>
              <a:t> </a:t>
            </a:r>
            <a:r>
              <a:rPr sz="3000" dirty="0">
                <a:solidFill>
                  <a:srgbClr val="000000"/>
                </a:solidFill>
              </a:rPr>
              <a:t>–</a:t>
            </a:r>
            <a:r>
              <a:rPr sz="3000" spc="-105" dirty="0">
                <a:solidFill>
                  <a:srgbClr val="000000"/>
                </a:solidFill>
              </a:rPr>
              <a:t> </a:t>
            </a:r>
            <a:r>
              <a:rPr sz="3000" dirty="0">
                <a:solidFill>
                  <a:srgbClr val="000000"/>
                </a:solidFill>
              </a:rPr>
              <a:t>CI/CD</a:t>
            </a:r>
            <a:r>
              <a:rPr sz="3000" spc="-110" dirty="0">
                <a:solidFill>
                  <a:srgbClr val="000000"/>
                </a:solidFill>
              </a:rPr>
              <a:t> </a:t>
            </a:r>
            <a:r>
              <a:rPr sz="3000" spc="-10" dirty="0">
                <a:solidFill>
                  <a:srgbClr val="000000"/>
                </a:solidFill>
              </a:rPr>
              <a:t>Workflow:</a:t>
            </a:r>
            <a:endParaRPr sz="3000"/>
          </a:p>
        </p:txBody>
      </p:sp>
      <p:sp>
        <p:nvSpPr>
          <p:cNvPr id="4" name="object 4"/>
          <p:cNvSpPr txBox="1"/>
          <p:nvPr/>
        </p:nvSpPr>
        <p:spPr>
          <a:xfrm>
            <a:off x="311149" y="1151344"/>
            <a:ext cx="8830945" cy="86474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10" dirty="0">
                <a:latin typeface="Roboto"/>
                <a:cs typeface="Roboto"/>
              </a:rPr>
              <a:t>A.Step:</a:t>
            </a:r>
            <a:endParaRPr sz="2200">
              <a:latin typeface="Roboto"/>
              <a:cs typeface="Roboto"/>
            </a:endParaRPr>
          </a:p>
          <a:p>
            <a:pPr marL="241935" indent="-234950">
              <a:lnSpc>
                <a:spcPct val="100000"/>
              </a:lnSpc>
              <a:spcBef>
                <a:spcPts val="1710"/>
              </a:spcBef>
              <a:buSzPct val="95454"/>
              <a:buAutoNum type="arabicPeriod"/>
              <a:tabLst>
                <a:tab pos="241935" algn="l"/>
              </a:tabLst>
            </a:pPr>
            <a:r>
              <a:rPr sz="2200" spc="-10" dirty="0">
                <a:latin typeface="Roboto"/>
                <a:cs typeface="Roboto"/>
              </a:rPr>
              <a:t>Checkout</a:t>
            </a:r>
            <a:endParaRPr sz="2200">
              <a:latin typeface="Roboto"/>
              <a:cs typeface="Roboto"/>
            </a:endParaRPr>
          </a:p>
          <a:p>
            <a:pPr marL="244475" lvl="1" indent="-163195">
              <a:lnSpc>
                <a:spcPct val="100000"/>
              </a:lnSpc>
              <a:spcBef>
                <a:spcPts val="1710"/>
              </a:spcBef>
              <a:buChar char="•"/>
              <a:tabLst>
                <a:tab pos="244475" algn="l"/>
              </a:tabLst>
            </a:pPr>
            <a:r>
              <a:rPr sz="2200" dirty="0">
                <a:latin typeface="Roboto"/>
                <a:cs typeface="Roboto"/>
              </a:rPr>
              <a:t>Dev</a:t>
            </a:r>
            <a:r>
              <a:rPr sz="2200" spc="-90" dirty="0">
                <a:latin typeface="Roboto"/>
                <a:cs typeface="Roboto"/>
              </a:rPr>
              <a:t> </a:t>
            </a:r>
            <a:r>
              <a:rPr sz="2200" spc="-10" dirty="0">
                <a:latin typeface="Roboto"/>
                <a:cs typeface="Roboto"/>
              </a:rPr>
              <a:t>pushes</a:t>
            </a:r>
            <a:r>
              <a:rPr sz="2200" spc="-85" dirty="0">
                <a:latin typeface="Roboto"/>
                <a:cs typeface="Roboto"/>
              </a:rPr>
              <a:t> </a:t>
            </a:r>
            <a:r>
              <a:rPr sz="2200" dirty="0">
                <a:latin typeface="Roboto"/>
                <a:cs typeface="Roboto"/>
              </a:rPr>
              <a:t>to</a:t>
            </a:r>
            <a:r>
              <a:rPr sz="2200" spc="-85" dirty="0">
                <a:latin typeface="Roboto"/>
                <a:cs typeface="Roboto"/>
              </a:rPr>
              <a:t> </a:t>
            </a:r>
            <a:r>
              <a:rPr sz="2200" dirty="0">
                <a:latin typeface="Roboto"/>
                <a:cs typeface="Roboto"/>
              </a:rPr>
              <a:t>GitHub</a:t>
            </a:r>
            <a:r>
              <a:rPr sz="2200" spc="-85" dirty="0">
                <a:latin typeface="Roboto"/>
                <a:cs typeface="Roboto"/>
              </a:rPr>
              <a:t> </a:t>
            </a:r>
            <a:r>
              <a:rPr sz="1000" spc="1255" dirty="0">
                <a:latin typeface="Lucida Sans Unicode"/>
                <a:cs typeface="Lucida Sans Unicode"/>
              </a:rPr>
              <a:t>→</a:t>
            </a:r>
            <a:r>
              <a:rPr sz="1000" spc="140" dirty="0">
                <a:latin typeface="Lucida Sans Unicode"/>
                <a:cs typeface="Lucida Sans Unicode"/>
              </a:rPr>
              <a:t> </a:t>
            </a:r>
            <a:r>
              <a:rPr sz="2200" spc="-10" dirty="0">
                <a:latin typeface="Roboto"/>
                <a:cs typeface="Roboto"/>
              </a:rPr>
              <a:t>Jenkins</a:t>
            </a:r>
            <a:r>
              <a:rPr sz="2200" spc="-90" dirty="0">
                <a:latin typeface="Roboto"/>
                <a:cs typeface="Roboto"/>
              </a:rPr>
              <a:t> </a:t>
            </a:r>
            <a:r>
              <a:rPr sz="2200" spc="-10" dirty="0">
                <a:latin typeface="Roboto"/>
                <a:cs typeface="Roboto"/>
              </a:rPr>
              <a:t>triggered</a:t>
            </a:r>
            <a:r>
              <a:rPr sz="2200" spc="-85" dirty="0">
                <a:latin typeface="Roboto"/>
                <a:cs typeface="Roboto"/>
              </a:rPr>
              <a:t> </a:t>
            </a:r>
            <a:r>
              <a:rPr sz="2200" dirty="0">
                <a:latin typeface="Roboto"/>
                <a:cs typeface="Roboto"/>
              </a:rPr>
              <a:t>via</a:t>
            </a:r>
            <a:r>
              <a:rPr sz="2200" spc="-85" dirty="0">
                <a:latin typeface="Roboto"/>
                <a:cs typeface="Roboto"/>
              </a:rPr>
              <a:t> </a:t>
            </a:r>
            <a:r>
              <a:rPr sz="2200" spc="-10" dirty="0">
                <a:latin typeface="Roboto"/>
                <a:cs typeface="Roboto"/>
              </a:rPr>
              <a:t>webhook</a:t>
            </a:r>
            <a:endParaRPr sz="2200">
              <a:latin typeface="Roboto"/>
              <a:cs typeface="Roboto"/>
            </a:endParaRPr>
          </a:p>
          <a:p>
            <a:pPr marL="241935" indent="-234950">
              <a:lnSpc>
                <a:spcPct val="100000"/>
              </a:lnSpc>
              <a:spcBef>
                <a:spcPts val="1710"/>
              </a:spcBef>
              <a:buSzPct val="95454"/>
              <a:buAutoNum type="arabicPeriod"/>
              <a:tabLst>
                <a:tab pos="241935" algn="l"/>
              </a:tabLst>
            </a:pPr>
            <a:r>
              <a:rPr sz="2200" spc="-10" dirty="0">
                <a:latin typeface="Roboto"/>
                <a:cs typeface="Roboto"/>
              </a:rPr>
              <a:t>Build</a:t>
            </a:r>
            <a:r>
              <a:rPr sz="2200" spc="-55" dirty="0">
                <a:latin typeface="Roboto"/>
                <a:cs typeface="Roboto"/>
              </a:rPr>
              <a:t> </a:t>
            </a:r>
            <a:r>
              <a:rPr sz="2200" dirty="0">
                <a:latin typeface="Roboto"/>
                <a:cs typeface="Roboto"/>
              </a:rPr>
              <a:t>&amp;</a:t>
            </a:r>
            <a:r>
              <a:rPr sz="2200" spc="-55" dirty="0">
                <a:latin typeface="Roboto"/>
                <a:cs typeface="Roboto"/>
              </a:rPr>
              <a:t> </a:t>
            </a:r>
            <a:r>
              <a:rPr sz="2200" spc="-20" dirty="0">
                <a:latin typeface="Roboto"/>
                <a:cs typeface="Roboto"/>
              </a:rPr>
              <a:t>Push</a:t>
            </a:r>
            <a:endParaRPr sz="2200">
              <a:latin typeface="Roboto"/>
              <a:cs typeface="Roboto"/>
            </a:endParaRPr>
          </a:p>
          <a:p>
            <a:pPr marL="12700" marR="1771014" lvl="1" indent="231775">
              <a:lnSpc>
                <a:spcPct val="164800"/>
              </a:lnSpc>
              <a:buChar char="•"/>
              <a:tabLst>
                <a:tab pos="244475" algn="l"/>
              </a:tabLst>
            </a:pPr>
            <a:r>
              <a:rPr sz="2200" spc="-10" dirty="0">
                <a:latin typeface="Roboto"/>
                <a:cs typeface="Roboto"/>
              </a:rPr>
              <a:t>Jenkins</a:t>
            </a:r>
            <a:r>
              <a:rPr sz="2200" spc="-75" dirty="0">
                <a:latin typeface="Roboto"/>
                <a:cs typeface="Roboto"/>
              </a:rPr>
              <a:t> </a:t>
            </a:r>
            <a:r>
              <a:rPr sz="2200" spc="-10" dirty="0">
                <a:latin typeface="Roboto"/>
                <a:cs typeface="Roboto"/>
              </a:rPr>
              <a:t>builds</a:t>
            </a:r>
            <a:r>
              <a:rPr sz="2200" spc="-75" dirty="0">
                <a:latin typeface="Roboto"/>
                <a:cs typeface="Roboto"/>
              </a:rPr>
              <a:t> </a:t>
            </a:r>
            <a:r>
              <a:rPr sz="2200" spc="-10" dirty="0">
                <a:latin typeface="Roboto"/>
                <a:cs typeface="Roboto"/>
              </a:rPr>
              <a:t>Docker</a:t>
            </a:r>
            <a:r>
              <a:rPr sz="2200" spc="-70" dirty="0">
                <a:latin typeface="Roboto"/>
                <a:cs typeface="Roboto"/>
              </a:rPr>
              <a:t> </a:t>
            </a:r>
            <a:r>
              <a:rPr sz="2200" dirty="0">
                <a:latin typeface="Roboto"/>
                <a:cs typeface="Roboto"/>
              </a:rPr>
              <a:t>images</a:t>
            </a:r>
            <a:r>
              <a:rPr sz="2200" spc="-75" dirty="0">
                <a:latin typeface="Roboto"/>
                <a:cs typeface="Roboto"/>
              </a:rPr>
              <a:t> </a:t>
            </a:r>
            <a:r>
              <a:rPr sz="1000" spc="1255" dirty="0">
                <a:latin typeface="Lucida Sans Unicode"/>
                <a:cs typeface="Lucida Sans Unicode"/>
              </a:rPr>
              <a:t>→</a:t>
            </a:r>
            <a:r>
              <a:rPr sz="1000" spc="155" dirty="0">
                <a:latin typeface="Lucida Sans Unicode"/>
                <a:cs typeface="Lucida Sans Unicode"/>
              </a:rPr>
              <a:t> </a:t>
            </a:r>
            <a:r>
              <a:rPr sz="2200" spc="-10" dirty="0">
                <a:latin typeface="Roboto"/>
                <a:cs typeface="Roboto"/>
              </a:rPr>
              <a:t>Pushes</a:t>
            </a:r>
            <a:r>
              <a:rPr sz="2200" spc="-75" dirty="0">
                <a:latin typeface="Roboto"/>
                <a:cs typeface="Roboto"/>
              </a:rPr>
              <a:t> </a:t>
            </a:r>
            <a:r>
              <a:rPr sz="2200" dirty="0">
                <a:latin typeface="Roboto"/>
                <a:cs typeface="Roboto"/>
              </a:rPr>
              <a:t>to</a:t>
            </a:r>
            <a:r>
              <a:rPr sz="2200" spc="-70" dirty="0">
                <a:latin typeface="Roboto"/>
                <a:cs typeface="Roboto"/>
              </a:rPr>
              <a:t> </a:t>
            </a:r>
            <a:r>
              <a:rPr sz="2200" spc="-10" dirty="0">
                <a:latin typeface="Roboto"/>
                <a:cs typeface="Roboto"/>
              </a:rPr>
              <a:t>DockerHub 3.Deploy</a:t>
            </a:r>
            <a:endParaRPr sz="2200">
              <a:latin typeface="Roboto"/>
              <a:cs typeface="Roboto"/>
            </a:endParaRPr>
          </a:p>
          <a:p>
            <a:pPr marL="12700" marR="2498090" lvl="1" indent="231775">
              <a:lnSpc>
                <a:spcPct val="164800"/>
              </a:lnSpc>
              <a:buChar char="•"/>
              <a:tabLst>
                <a:tab pos="244475" algn="l"/>
              </a:tabLst>
            </a:pPr>
            <a:r>
              <a:rPr sz="2200" dirty="0">
                <a:latin typeface="Roboto"/>
                <a:cs typeface="Roboto"/>
              </a:rPr>
              <a:t>Apply</a:t>
            </a:r>
            <a:r>
              <a:rPr sz="2200" spc="-85" dirty="0">
                <a:latin typeface="Roboto"/>
                <a:cs typeface="Roboto"/>
              </a:rPr>
              <a:t> </a:t>
            </a:r>
            <a:r>
              <a:rPr sz="2200" dirty="0">
                <a:latin typeface="Roboto"/>
                <a:cs typeface="Roboto"/>
              </a:rPr>
              <a:t>K8s</a:t>
            </a:r>
            <a:r>
              <a:rPr sz="2200" spc="-80" dirty="0">
                <a:latin typeface="Roboto"/>
                <a:cs typeface="Roboto"/>
              </a:rPr>
              <a:t> </a:t>
            </a:r>
            <a:r>
              <a:rPr sz="2200" spc="-20" dirty="0">
                <a:latin typeface="Roboto"/>
                <a:cs typeface="Roboto"/>
              </a:rPr>
              <a:t>YAMLs</a:t>
            </a:r>
            <a:r>
              <a:rPr sz="2200" spc="-80" dirty="0">
                <a:latin typeface="Roboto"/>
                <a:cs typeface="Roboto"/>
              </a:rPr>
              <a:t> </a:t>
            </a:r>
            <a:r>
              <a:rPr sz="1000" spc="1255" dirty="0">
                <a:latin typeface="Lucida Sans Unicode"/>
                <a:cs typeface="Lucida Sans Unicode"/>
              </a:rPr>
              <a:t>→</a:t>
            </a:r>
            <a:r>
              <a:rPr sz="1000" spc="145" dirty="0">
                <a:latin typeface="Lucida Sans Unicode"/>
                <a:cs typeface="Lucida Sans Unicode"/>
              </a:rPr>
              <a:t> </a:t>
            </a:r>
            <a:r>
              <a:rPr sz="2200" spc="-10" dirty="0">
                <a:latin typeface="Roboto"/>
                <a:cs typeface="Roboto"/>
              </a:rPr>
              <a:t>Services</a:t>
            </a:r>
            <a:r>
              <a:rPr sz="2200" spc="-80" dirty="0">
                <a:latin typeface="Roboto"/>
                <a:cs typeface="Roboto"/>
              </a:rPr>
              <a:t> </a:t>
            </a:r>
            <a:r>
              <a:rPr sz="2200" spc="-10" dirty="0">
                <a:latin typeface="Roboto"/>
                <a:cs typeface="Roboto"/>
              </a:rPr>
              <a:t>deployed</a:t>
            </a:r>
            <a:r>
              <a:rPr sz="2200" spc="-80" dirty="0">
                <a:latin typeface="Roboto"/>
                <a:cs typeface="Roboto"/>
              </a:rPr>
              <a:t> </a:t>
            </a:r>
            <a:r>
              <a:rPr sz="2200" dirty="0">
                <a:latin typeface="Roboto"/>
                <a:cs typeface="Roboto"/>
              </a:rPr>
              <a:t>to</a:t>
            </a:r>
            <a:r>
              <a:rPr sz="2200" spc="-80" dirty="0">
                <a:latin typeface="Roboto"/>
                <a:cs typeface="Roboto"/>
              </a:rPr>
              <a:t> </a:t>
            </a:r>
            <a:r>
              <a:rPr sz="2200" spc="-10" dirty="0">
                <a:latin typeface="Roboto"/>
                <a:cs typeface="Roboto"/>
              </a:rPr>
              <a:t>cluster 4.Verify</a:t>
            </a:r>
            <a:endParaRPr sz="2200">
              <a:latin typeface="Roboto"/>
              <a:cs typeface="Roboto"/>
            </a:endParaRPr>
          </a:p>
          <a:p>
            <a:pPr marL="12700" marR="2445385" lvl="1" indent="231775">
              <a:lnSpc>
                <a:spcPct val="164800"/>
              </a:lnSpc>
              <a:buChar char="•"/>
              <a:tabLst>
                <a:tab pos="244475" algn="l"/>
              </a:tabLst>
            </a:pPr>
            <a:r>
              <a:rPr sz="2200" spc="-10" dirty="0">
                <a:latin typeface="Roboto"/>
                <a:cs typeface="Roboto"/>
              </a:rPr>
              <a:t>Jenkins</a:t>
            </a:r>
            <a:r>
              <a:rPr sz="2200" spc="-85" dirty="0">
                <a:latin typeface="Roboto"/>
                <a:cs typeface="Roboto"/>
              </a:rPr>
              <a:t> </a:t>
            </a:r>
            <a:r>
              <a:rPr sz="2200" dirty="0">
                <a:latin typeface="Roboto"/>
                <a:cs typeface="Roboto"/>
              </a:rPr>
              <a:t>checks</a:t>
            </a:r>
            <a:r>
              <a:rPr sz="2200" spc="-85" dirty="0">
                <a:latin typeface="Roboto"/>
                <a:cs typeface="Roboto"/>
              </a:rPr>
              <a:t> </a:t>
            </a:r>
            <a:r>
              <a:rPr sz="2200" dirty="0">
                <a:latin typeface="Roboto"/>
                <a:cs typeface="Roboto"/>
              </a:rPr>
              <a:t>pod</a:t>
            </a:r>
            <a:r>
              <a:rPr sz="2200" spc="-80" dirty="0">
                <a:latin typeface="Roboto"/>
                <a:cs typeface="Roboto"/>
              </a:rPr>
              <a:t> </a:t>
            </a:r>
            <a:r>
              <a:rPr sz="2200" dirty="0">
                <a:latin typeface="Roboto"/>
                <a:cs typeface="Roboto"/>
              </a:rPr>
              <a:t>&amp;</a:t>
            </a:r>
            <a:r>
              <a:rPr sz="2200" spc="-85" dirty="0">
                <a:latin typeface="Roboto"/>
                <a:cs typeface="Roboto"/>
              </a:rPr>
              <a:t> </a:t>
            </a:r>
            <a:r>
              <a:rPr sz="2200" dirty="0">
                <a:latin typeface="Roboto"/>
                <a:cs typeface="Roboto"/>
              </a:rPr>
              <a:t>service</a:t>
            </a:r>
            <a:r>
              <a:rPr sz="2200" spc="-85" dirty="0">
                <a:latin typeface="Roboto"/>
                <a:cs typeface="Roboto"/>
              </a:rPr>
              <a:t> </a:t>
            </a:r>
            <a:r>
              <a:rPr sz="2200" spc="-10" dirty="0">
                <a:latin typeface="Roboto"/>
                <a:cs typeface="Roboto"/>
              </a:rPr>
              <a:t>status</a:t>
            </a:r>
            <a:r>
              <a:rPr sz="2200" spc="-80" dirty="0">
                <a:latin typeface="Roboto"/>
                <a:cs typeface="Roboto"/>
              </a:rPr>
              <a:t> </a:t>
            </a:r>
            <a:r>
              <a:rPr sz="2200" dirty="0">
                <a:latin typeface="Roboto"/>
                <a:cs typeface="Roboto"/>
              </a:rPr>
              <a:t>(kubectl</a:t>
            </a:r>
            <a:r>
              <a:rPr sz="2200" spc="-85" dirty="0">
                <a:latin typeface="Roboto"/>
                <a:cs typeface="Roboto"/>
              </a:rPr>
              <a:t> </a:t>
            </a:r>
            <a:r>
              <a:rPr sz="2200" spc="-20" dirty="0">
                <a:latin typeface="Roboto"/>
                <a:cs typeface="Roboto"/>
              </a:rPr>
              <a:t>get) </a:t>
            </a:r>
            <a:r>
              <a:rPr sz="2200" spc="-10" dirty="0">
                <a:latin typeface="Roboto"/>
                <a:cs typeface="Roboto"/>
              </a:rPr>
              <a:t>B.Environment:</a:t>
            </a:r>
            <a:endParaRPr sz="2200">
              <a:latin typeface="Roboto"/>
              <a:cs typeface="Roboto"/>
            </a:endParaRPr>
          </a:p>
          <a:p>
            <a:pPr marL="244475" lvl="1" indent="-163195">
              <a:lnSpc>
                <a:spcPct val="100000"/>
              </a:lnSpc>
              <a:spcBef>
                <a:spcPts val="1705"/>
              </a:spcBef>
              <a:buChar char="•"/>
              <a:tabLst>
                <a:tab pos="244475" algn="l"/>
              </a:tabLst>
            </a:pPr>
            <a:r>
              <a:rPr sz="2200" dirty="0">
                <a:latin typeface="Roboto"/>
                <a:cs typeface="Roboto"/>
              </a:rPr>
              <a:t>Platform:</a:t>
            </a:r>
            <a:r>
              <a:rPr sz="2200" spc="-75" dirty="0">
                <a:latin typeface="Roboto"/>
                <a:cs typeface="Roboto"/>
              </a:rPr>
              <a:t> </a:t>
            </a:r>
            <a:r>
              <a:rPr sz="2200" spc="-20" dirty="0">
                <a:latin typeface="Roboto"/>
                <a:cs typeface="Roboto"/>
              </a:rPr>
              <a:t>Digital</a:t>
            </a:r>
            <a:r>
              <a:rPr sz="2200" spc="-70" dirty="0">
                <a:latin typeface="Roboto"/>
                <a:cs typeface="Roboto"/>
              </a:rPr>
              <a:t> </a:t>
            </a:r>
            <a:r>
              <a:rPr sz="2200" dirty="0">
                <a:latin typeface="Roboto"/>
                <a:cs typeface="Roboto"/>
              </a:rPr>
              <a:t>Ocean</a:t>
            </a:r>
            <a:r>
              <a:rPr sz="2200" spc="-70" dirty="0">
                <a:latin typeface="Roboto"/>
                <a:cs typeface="Roboto"/>
              </a:rPr>
              <a:t> </a:t>
            </a:r>
            <a:r>
              <a:rPr sz="2200" spc="-20" dirty="0">
                <a:latin typeface="Roboto"/>
                <a:cs typeface="Roboto"/>
              </a:rPr>
              <a:t>Kubernetes</a:t>
            </a:r>
            <a:r>
              <a:rPr sz="2200" spc="-70" dirty="0">
                <a:latin typeface="Roboto"/>
                <a:cs typeface="Roboto"/>
              </a:rPr>
              <a:t> </a:t>
            </a:r>
            <a:r>
              <a:rPr sz="2200" spc="-10" dirty="0">
                <a:latin typeface="Roboto"/>
                <a:cs typeface="Roboto"/>
              </a:rPr>
              <a:t>Cluster</a:t>
            </a:r>
            <a:endParaRPr sz="2200">
              <a:latin typeface="Roboto"/>
              <a:cs typeface="Roboto"/>
            </a:endParaRPr>
          </a:p>
          <a:p>
            <a:pPr marL="12700" marR="5080" lvl="1" indent="231775">
              <a:lnSpc>
                <a:spcPct val="164800"/>
              </a:lnSpc>
              <a:buChar char="•"/>
              <a:tabLst>
                <a:tab pos="244475" algn="l"/>
              </a:tabLst>
            </a:pPr>
            <a:r>
              <a:rPr sz="2200" spc="-10" dirty="0">
                <a:latin typeface="Roboto"/>
                <a:cs typeface="Roboto"/>
              </a:rPr>
              <a:t>Microservices:</a:t>
            </a:r>
            <a:r>
              <a:rPr sz="2200" spc="-105" dirty="0">
                <a:latin typeface="Roboto"/>
                <a:cs typeface="Roboto"/>
              </a:rPr>
              <a:t> </a:t>
            </a:r>
            <a:r>
              <a:rPr sz="2200" dirty="0">
                <a:latin typeface="Roboto"/>
                <a:cs typeface="Roboto"/>
              </a:rPr>
              <a:t>UI,</a:t>
            </a:r>
            <a:r>
              <a:rPr sz="2200" spc="-105" dirty="0">
                <a:latin typeface="Roboto"/>
                <a:cs typeface="Roboto"/>
              </a:rPr>
              <a:t> </a:t>
            </a:r>
            <a:r>
              <a:rPr sz="2200" spc="-10" dirty="0">
                <a:latin typeface="Roboto"/>
                <a:cs typeface="Roboto"/>
              </a:rPr>
              <a:t>Analytics,</a:t>
            </a:r>
            <a:r>
              <a:rPr sz="2200" spc="-105" dirty="0">
                <a:latin typeface="Roboto"/>
                <a:cs typeface="Roboto"/>
              </a:rPr>
              <a:t> </a:t>
            </a:r>
            <a:r>
              <a:rPr sz="2200" spc="-30" dirty="0">
                <a:latin typeface="Roboto"/>
                <a:cs typeface="Roboto"/>
              </a:rPr>
              <a:t>Gateway,</a:t>
            </a:r>
            <a:r>
              <a:rPr sz="2200" spc="-105" dirty="0">
                <a:latin typeface="Roboto"/>
                <a:cs typeface="Roboto"/>
              </a:rPr>
              <a:t> </a:t>
            </a:r>
            <a:r>
              <a:rPr sz="2200" spc="-10" dirty="0">
                <a:latin typeface="Roboto"/>
                <a:cs typeface="Roboto"/>
              </a:rPr>
              <a:t>Data</a:t>
            </a:r>
            <a:r>
              <a:rPr sz="2200" spc="-105" dirty="0">
                <a:latin typeface="Roboto"/>
                <a:cs typeface="Roboto"/>
              </a:rPr>
              <a:t> </a:t>
            </a:r>
            <a:r>
              <a:rPr sz="2200" dirty="0">
                <a:latin typeface="Roboto"/>
                <a:cs typeface="Roboto"/>
              </a:rPr>
              <a:t>Collection,</a:t>
            </a:r>
            <a:r>
              <a:rPr sz="2200" spc="-105" dirty="0">
                <a:latin typeface="Roboto"/>
                <a:cs typeface="Roboto"/>
              </a:rPr>
              <a:t> </a:t>
            </a:r>
            <a:r>
              <a:rPr sz="2200" spc="-10" dirty="0">
                <a:latin typeface="Roboto"/>
                <a:cs typeface="Roboto"/>
              </a:rPr>
              <a:t>Device</a:t>
            </a:r>
            <a:r>
              <a:rPr sz="2200" spc="-105" dirty="0">
                <a:latin typeface="Roboto"/>
                <a:cs typeface="Roboto"/>
              </a:rPr>
              <a:t> </a:t>
            </a:r>
            <a:r>
              <a:rPr sz="2200" spc="-10" dirty="0">
                <a:latin typeface="Roboto"/>
                <a:cs typeface="Roboto"/>
              </a:rPr>
              <a:t>Control, Notification,</a:t>
            </a:r>
            <a:r>
              <a:rPr sz="2200" spc="-40" dirty="0">
                <a:latin typeface="Roboto"/>
                <a:cs typeface="Roboto"/>
              </a:rPr>
              <a:t> </a:t>
            </a:r>
            <a:r>
              <a:rPr sz="2200" spc="-20" dirty="0">
                <a:latin typeface="Roboto"/>
                <a:cs typeface="Roboto"/>
              </a:rPr>
              <a:t>MongoDB,</a:t>
            </a:r>
            <a:r>
              <a:rPr sz="2200" spc="-35" dirty="0">
                <a:latin typeface="Roboto"/>
                <a:cs typeface="Roboto"/>
              </a:rPr>
              <a:t> </a:t>
            </a:r>
            <a:r>
              <a:rPr sz="2200" spc="-10" dirty="0">
                <a:latin typeface="Roboto"/>
                <a:cs typeface="Roboto"/>
              </a:rPr>
              <a:t>Redis</a:t>
            </a:r>
            <a:endParaRPr sz="2200">
              <a:latin typeface="Roboto"/>
              <a:cs typeface="Roboto"/>
            </a:endParaRPr>
          </a:p>
          <a:p>
            <a:pPr marL="244475" lvl="1" indent="-163195">
              <a:lnSpc>
                <a:spcPct val="100000"/>
              </a:lnSpc>
              <a:spcBef>
                <a:spcPts val="1710"/>
              </a:spcBef>
              <a:buChar char="•"/>
              <a:tabLst>
                <a:tab pos="244475" algn="l"/>
              </a:tabLst>
            </a:pPr>
            <a:r>
              <a:rPr sz="2200" spc="-20" dirty="0">
                <a:latin typeface="Roboto"/>
                <a:cs typeface="Roboto"/>
              </a:rPr>
              <a:t>Gateway</a:t>
            </a:r>
            <a:r>
              <a:rPr sz="2200" spc="-55" dirty="0">
                <a:latin typeface="Roboto"/>
                <a:cs typeface="Roboto"/>
              </a:rPr>
              <a:t> </a:t>
            </a:r>
            <a:r>
              <a:rPr sz="2200" dirty="0">
                <a:latin typeface="Roboto"/>
                <a:cs typeface="Roboto"/>
              </a:rPr>
              <a:t>Port:</a:t>
            </a:r>
            <a:r>
              <a:rPr sz="2200" spc="-55" dirty="0">
                <a:latin typeface="Roboto"/>
                <a:cs typeface="Roboto"/>
              </a:rPr>
              <a:t> </a:t>
            </a:r>
            <a:r>
              <a:rPr sz="2200" dirty="0">
                <a:latin typeface="Roboto"/>
                <a:cs typeface="Roboto"/>
              </a:rPr>
              <a:t>80</a:t>
            </a:r>
            <a:r>
              <a:rPr sz="2200" spc="-55" dirty="0">
                <a:latin typeface="Roboto"/>
                <a:cs typeface="Roboto"/>
              </a:rPr>
              <a:t> </a:t>
            </a:r>
            <a:r>
              <a:rPr sz="2200" dirty="0">
                <a:latin typeface="Roboto"/>
                <a:cs typeface="Roboto"/>
              </a:rPr>
              <a:t>|</a:t>
            </a:r>
            <a:r>
              <a:rPr sz="2200" spc="-55" dirty="0">
                <a:latin typeface="Roboto"/>
                <a:cs typeface="Roboto"/>
              </a:rPr>
              <a:t> </a:t>
            </a:r>
            <a:r>
              <a:rPr sz="2200" spc="-20" dirty="0">
                <a:latin typeface="Roboto"/>
                <a:cs typeface="Roboto"/>
              </a:rPr>
              <a:t>MongoDB:</a:t>
            </a:r>
            <a:r>
              <a:rPr sz="2200" spc="-55" dirty="0">
                <a:latin typeface="Roboto"/>
                <a:cs typeface="Roboto"/>
              </a:rPr>
              <a:t> </a:t>
            </a:r>
            <a:r>
              <a:rPr sz="2200" dirty="0">
                <a:latin typeface="Roboto"/>
                <a:cs typeface="Roboto"/>
              </a:rPr>
              <a:t>27017</a:t>
            </a:r>
            <a:r>
              <a:rPr sz="2200" spc="-55" dirty="0">
                <a:latin typeface="Roboto"/>
                <a:cs typeface="Roboto"/>
              </a:rPr>
              <a:t> </a:t>
            </a:r>
            <a:r>
              <a:rPr sz="2200" dirty="0">
                <a:latin typeface="Roboto"/>
                <a:cs typeface="Roboto"/>
              </a:rPr>
              <a:t>|</a:t>
            </a:r>
            <a:r>
              <a:rPr sz="2200" spc="-55" dirty="0">
                <a:latin typeface="Roboto"/>
                <a:cs typeface="Roboto"/>
              </a:rPr>
              <a:t> </a:t>
            </a:r>
            <a:r>
              <a:rPr sz="2200" spc="-10" dirty="0">
                <a:latin typeface="Roboto"/>
                <a:cs typeface="Roboto"/>
              </a:rPr>
              <a:t>Redis:</a:t>
            </a:r>
            <a:r>
              <a:rPr sz="2200" spc="-55" dirty="0">
                <a:latin typeface="Roboto"/>
                <a:cs typeface="Roboto"/>
              </a:rPr>
              <a:t> </a:t>
            </a:r>
            <a:r>
              <a:rPr sz="2200" spc="-20" dirty="0">
                <a:latin typeface="Roboto"/>
                <a:cs typeface="Roboto"/>
              </a:rPr>
              <a:t>6379</a:t>
            </a:r>
            <a:endParaRPr sz="2200">
              <a:latin typeface="Roboto"/>
              <a:cs typeface="Roboto"/>
            </a:endParaRPr>
          </a:p>
          <a:p>
            <a:pPr marL="244475" lvl="1" indent="-163195">
              <a:lnSpc>
                <a:spcPct val="100000"/>
              </a:lnSpc>
              <a:spcBef>
                <a:spcPts val="1710"/>
              </a:spcBef>
              <a:buChar char="•"/>
              <a:tabLst>
                <a:tab pos="244475" algn="l"/>
              </a:tabLst>
            </a:pPr>
            <a:r>
              <a:rPr sz="2200" dirty="0">
                <a:latin typeface="Roboto"/>
                <a:cs typeface="Roboto"/>
              </a:rPr>
              <a:t>User</a:t>
            </a:r>
            <a:r>
              <a:rPr sz="2200" spc="-70" dirty="0">
                <a:latin typeface="Roboto"/>
                <a:cs typeface="Roboto"/>
              </a:rPr>
              <a:t> </a:t>
            </a:r>
            <a:r>
              <a:rPr sz="2200" dirty="0">
                <a:latin typeface="Roboto"/>
                <a:cs typeface="Roboto"/>
              </a:rPr>
              <a:t>Access:</a:t>
            </a:r>
            <a:r>
              <a:rPr sz="2200" spc="-65" dirty="0">
                <a:latin typeface="Roboto"/>
                <a:cs typeface="Roboto"/>
              </a:rPr>
              <a:t> </a:t>
            </a:r>
            <a:r>
              <a:rPr sz="2200" dirty="0">
                <a:latin typeface="Roboto"/>
                <a:cs typeface="Roboto"/>
              </a:rPr>
              <a:t>Via</a:t>
            </a:r>
            <a:r>
              <a:rPr sz="2200" spc="-65" dirty="0">
                <a:latin typeface="Roboto"/>
                <a:cs typeface="Roboto"/>
              </a:rPr>
              <a:t> </a:t>
            </a:r>
            <a:r>
              <a:rPr sz="2200" dirty="0">
                <a:latin typeface="Roboto"/>
                <a:cs typeface="Roboto"/>
              </a:rPr>
              <a:t>Web,</a:t>
            </a:r>
            <a:r>
              <a:rPr sz="2200" spc="-65" dirty="0">
                <a:latin typeface="Roboto"/>
                <a:cs typeface="Roboto"/>
              </a:rPr>
              <a:t> </a:t>
            </a:r>
            <a:r>
              <a:rPr sz="2200" dirty="0">
                <a:latin typeface="Roboto"/>
                <a:cs typeface="Roboto"/>
              </a:rPr>
              <a:t>Mobile,</a:t>
            </a:r>
            <a:r>
              <a:rPr sz="2200" spc="-65" dirty="0">
                <a:latin typeface="Roboto"/>
                <a:cs typeface="Roboto"/>
              </a:rPr>
              <a:t> </a:t>
            </a:r>
            <a:r>
              <a:rPr sz="2200" dirty="0">
                <a:latin typeface="Roboto"/>
                <a:cs typeface="Roboto"/>
              </a:rPr>
              <a:t>or</a:t>
            </a:r>
            <a:r>
              <a:rPr sz="2200" spc="-65" dirty="0">
                <a:latin typeface="Roboto"/>
                <a:cs typeface="Roboto"/>
              </a:rPr>
              <a:t> </a:t>
            </a:r>
            <a:r>
              <a:rPr sz="2200" spc="-25" dirty="0">
                <a:latin typeface="Roboto"/>
                <a:cs typeface="Roboto"/>
              </a:rPr>
              <a:t>API</a:t>
            </a:r>
            <a:endParaRPr sz="2200">
              <a:latin typeface="Roboto"/>
              <a:cs typeface="Roboto"/>
            </a:endParaRPr>
          </a:p>
          <a:p>
            <a:pPr marL="150495">
              <a:lnSpc>
                <a:spcPct val="100000"/>
              </a:lnSpc>
              <a:spcBef>
                <a:spcPts val="1710"/>
              </a:spcBef>
            </a:pPr>
            <a:r>
              <a:rPr sz="1000" spc="1255" dirty="0">
                <a:latin typeface="Lucida Sans Unicode"/>
                <a:cs typeface="Lucida Sans Unicode"/>
              </a:rPr>
              <a:t>→</a:t>
            </a:r>
            <a:r>
              <a:rPr sz="1000" spc="155" dirty="0">
                <a:latin typeface="Lucida Sans Unicode"/>
                <a:cs typeface="Lucida Sans Unicode"/>
              </a:rPr>
              <a:t> </a:t>
            </a:r>
            <a:r>
              <a:rPr sz="2200" dirty="0">
                <a:latin typeface="Roboto"/>
                <a:cs typeface="Roboto"/>
              </a:rPr>
              <a:t>Load</a:t>
            </a:r>
            <a:r>
              <a:rPr sz="2200" spc="-70" dirty="0">
                <a:latin typeface="Roboto"/>
                <a:cs typeface="Roboto"/>
              </a:rPr>
              <a:t> </a:t>
            </a:r>
            <a:r>
              <a:rPr sz="2200" spc="-10" dirty="0">
                <a:latin typeface="Roboto"/>
                <a:cs typeface="Roboto"/>
              </a:rPr>
              <a:t>Balanced</a:t>
            </a:r>
            <a:r>
              <a:rPr sz="2200" spc="-65" dirty="0">
                <a:latin typeface="Roboto"/>
                <a:cs typeface="Roboto"/>
              </a:rPr>
              <a:t> </a:t>
            </a:r>
            <a:r>
              <a:rPr sz="2200" dirty="0">
                <a:latin typeface="Roboto"/>
                <a:cs typeface="Roboto"/>
              </a:rPr>
              <a:t>access</a:t>
            </a:r>
            <a:r>
              <a:rPr sz="2200" spc="-70" dirty="0">
                <a:latin typeface="Roboto"/>
                <a:cs typeface="Roboto"/>
              </a:rPr>
              <a:t> </a:t>
            </a:r>
            <a:r>
              <a:rPr sz="2200" dirty="0">
                <a:latin typeface="Roboto"/>
                <a:cs typeface="Roboto"/>
              </a:rPr>
              <a:t>at</a:t>
            </a:r>
            <a:r>
              <a:rPr sz="2200" spc="-70" dirty="0">
                <a:latin typeface="Roboto"/>
                <a:cs typeface="Roboto"/>
              </a:rPr>
              <a:t> </a:t>
            </a:r>
            <a:r>
              <a:rPr sz="2200" spc="-10" dirty="0">
                <a:latin typeface="Roboto"/>
                <a:cs typeface="Roboto"/>
              </a:rPr>
              <a:t>&lt;IP&gt;:32000</a:t>
            </a:r>
            <a:endParaRPr sz="22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330">
              <a:lnSpc>
                <a:spcPct val="100000"/>
              </a:lnSpc>
              <a:spcBef>
                <a:spcPts val="100"/>
              </a:spcBef>
            </a:pPr>
            <a:r>
              <a:rPr dirty="0"/>
              <a:t>V.</a:t>
            </a:r>
            <a:r>
              <a:rPr spc="-185" dirty="0"/>
              <a:t> </a:t>
            </a:r>
            <a:r>
              <a:rPr spc="-20" dirty="0"/>
              <a:t>Conclusions</a:t>
            </a:r>
            <a:r>
              <a:rPr spc="-180" dirty="0"/>
              <a:t> </a:t>
            </a:r>
            <a:r>
              <a:rPr dirty="0"/>
              <a:t>and</a:t>
            </a:r>
            <a:r>
              <a:rPr spc="-180" dirty="0"/>
              <a:t> </a:t>
            </a:r>
            <a:r>
              <a:rPr spc="-10" dirty="0"/>
              <a:t>Future</a:t>
            </a:r>
            <a:r>
              <a:rPr spc="-180" dirty="0"/>
              <a:t> </a:t>
            </a:r>
            <a:r>
              <a:rPr spc="-10" dirty="0"/>
              <a:t>Research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16000" y="1353073"/>
            <a:ext cx="13115290" cy="6502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5120" indent="-318770">
              <a:lnSpc>
                <a:spcPct val="100000"/>
              </a:lnSpc>
              <a:spcBef>
                <a:spcPts val="100"/>
              </a:spcBef>
              <a:buSzPct val="96666"/>
              <a:buAutoNum type="arabicPeriod"/>
              <a:tabLst>
                <a:tab pos="325120" algn="l"/>
              </a:tabLst>
            </a:pPr>
            <a:r>
              <a:rPr sz="3000" spc="-10" dirty="0">
                <a:solidFill>
                  <a:srgbClr val="1B1B26"/>
                </a:solidFill>
                <a:latin typeface="Roboto"/>
                <a:cs typeface="Roboto"/>
              </a:rPr>
              <a:t>Achievements:</a:t>
            </a:r>
            <a:endParaRPr sz="3000">
              <a:latin typeface="Roboto"/>
              <a:cs typeface="Roboto"/>
            </a:endParaRPr>
          </a:p>
          <a:p>
            <a:pPr marL="329565" lvl="1" indent="-222885">
              <a:lnSpc>
                <a:spcPct val="100000"/>
              </a:lnSpc>
              <a:spcBef>
                <a:spcPts val="2325"/>
              </a:spcBef>
              <a:buChar char="•"/>
              <a:tabLst>
                <a:tab pos="329565" algn="l"/>
              </a:tabLst>
            </a:pPr>
            <a:r>
              <a:rPr sz="3000" spc="-10" dirty="0">
                <a:solidFill>
                  <a:srgbClr val="1B1B26"/>
                </a:solidFill>
                <a:latin typeface="Roboto"/>
                <a:cs typeface="Roboto"/>
              </a:rPr>
              <a:t>Solved</a:t>
            </a:r>
            <a:r>
              <a:rPr sz="3000" spc="-125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3000" dirty="0">
                <a:solidFill>
                  <a:srgbClr val="1B1B26"/>
                </a:solidFill>
                <a:latin typeface="Roboto"/>
                <a:cs typeface="Roboto"/>
              </a:rPr>
              <a:t>3</a:t>
            </a:r>
            <a:r>
              <a:rPr sz="3000" spc="-125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3000" spc="-10" dirty="0">
                <a:solidFill>
                  <a:srgbClr val="1B1B26"/>
                </a:solidFill>
                <a:latin typeface="Roboto"/>
                <a:cs typeface="Roboto"/>
              </a:rPr>
              <a:t>key</a:t>
            </a:r>
            <a:r>
              <a:rPr sz="3000" spc="-125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3000" spc="-10" dirty="0">
                <a:solidFill>
                  <a:srgbClr val="1B1B26"/>
                </a:solidFill>
                <a:latin typeface="Roboto"/>
                <a:cs typeface="Roboto"/>
              </a:rPr>
              <a:t>problems:</a:t>
            </a:r>
            <a:r>
              <a:rPr sz="3000" spc="-125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3000" spc="-10" dirty="0">
                <a:solidFill>
                  <a:srgbClr val="1B1B26"/>
                </a:solidFill>
                <a:latin typeface="Roboto"/>
                <a:cs typeface="Roboto"/>
              </a:rPr>
              <a:t>Data</a:t>
            </a:r>
            <a:r>
              <a:rPr sz="3000" spc="-125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3000" spc="-10" dirty="0">
                <a:solidFill>
                  <a:srgbClr val="1B1B26"/>
                </a:solidFill>
                <a:latin typeface="Roboto"/>
                <a:cs typeface="Roboto"/>
              </a:rPr>
              <a:t>overload,</a:t>
            </a:r>
            <a:r>
              <a:rPr sz="3000" spc="-125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3000" dirty="0">
                <a:solidFill>
                  <a:srgbClr val="1B1B26"/>
                </a:solidFill>
                <a:latin typeface="Roboto"/>
                <a:cs typeface="Roboto"/>
              </a:rPr>
              <a:t>Poor</a:t>
            </a:r>
            <a:r>
              <a:rPr sz="3000" spc="-120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3000" spc="-40" dirty="0">
                <a:solidFill>
                  <a:srgbClr val="1B1B26"/>
                </a:solidFill>
                <a:latin typeface="Roboto"/>
                <a:cs typeface="Roboto"/>
              </a:rPr>
              <a:t>scalability,</a:t>
            </a:r>
            <a:r>
              <a:rPr sz="3000" spc="-125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3000" spc="-25" dirty="0">
                <a:solidFill>
                  <a:srgbClr val="1B1B26"/>
                </a:solidFill>
                <a:latin typeface="Roboto"/>
                <a:cs typeface="Roboto"/>
              </a:rPr>
              <a:t>Maintenance</a:t>
            </a:r>
            <a:r>
              <a:rPr sz="3000" spc="-125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3000" spc="-10" dirty="0">
                <a:solidFill>
                  <a:srgbClr val="1B1B26"/>
                </a:solidFill>
                <a:latin typeface="Roboto"/>
                <a:cs typeface="Roboto"/>
              </a:rPr>
              <a:t>issues</a:t>
            </a:r>
            <a:endParaRPr sz="3000">
              <a:latin typeface="Roboto"/>
              <a:cs typeface="Roboto"/>
            </a:endParaRPr>
          </a:p>
          <a:p>
            <a:pPr marL="329565" lvl="1" indent="-222885">
              <a:lnSpc>
                <a:spcPct val="100000"/>
              </a:lnSpc>
              <a:spcBef>
                <a:spcPts val="2325"/>
              </a:spcBef>
              <a:buChar char="•"/>
              <a:tabLst>
                <a:tab pos="329565" algn="l"/>
              </a:tabLst>
            </a:pPr>
            <a:r>
              <a:rPr sz="3000" spc="-10" dirty="0">
                <a:solidFill>
                  <a:srgbClr val="1B1B26"/>
                </a:solidFill>
                <a:latin typeface="Roboto"/>
                <a:cs typeface="Roboto"/>
              </a:rPr>
              <a:t>Established</a:t>
            </a:r>
            <a:r>
              <a:rPr sz="3000" spc="-100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3000" dirty="0">
                <a:solidFill>
                  <a:srgbClr val="1B1B26"/>
                </a:solidFill>
                <a:latin typeface="Roboto"/>
                <a:cs typeface="Roboto"/>
              </a:rPr>
              <a:t>a</a:t>
            </a:r>
            <a:r>
              <a:rPr sz="3000" spc="-100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3000" spc="-10" dirty="0">
                <a:solidFill>
                  <a:srgbClr val="1B1B26"/>
                </a:solidFill>
                <a:latin typeface="Roboto"/>
                <a:cs typeface="Roboto"/>
              </a:rPr>
              <a:t>scalable</a:t>
            </a:r>
            <a:r>
              <a:rPr sz="3000" spc="-100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3000" spc="-120" dirty="0">
                <a:solidFill>
                  <a:srgbClr val="1B1B26"/>
                </a:solidFill>
                <a:latin typeface="Roboto"/>
                <a:cs typeface="Roboto"/>
              </a:rPr>
              <a:t>cloud-</a:t>
            </a:r>
            <a:r>
              <a:rPr sz="3000" spc="-20" dirty="0">
                <a:solidFill>
                  <a:srgbClr val="1B1B26"/>
                </a:solidFill>
                <a:latin typeface="Roboto"/>
                <a:cs typeface="Roboto"/>
              </a:rPr>
              <a:t>native</a:t>
            </a:r>
            <a:r>
              <a:rPr sz="3000" spc="-100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3000" spc="-20" dirty="0">
                <a:solidFill>
                  <a:srgbClr val="1B1B26"/>
                </a:solidFill>
                <a:latin typeface="Roboto"/>
                <a:cs typeface="Roboto"/>
              </a:rPr>
              <a:t>microservices</a:t>
            </a:r>
            <a:r>
              <a:rPr sz="3000" spc="-95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3000" spc="-10" dirty="0">
                <a:solidFill>
                  <a:srgbClr val="1B1B26"/>
                </a:solidFill>
                <a:latin typeface="Roboto"/>
                <a:cs typeface="Roboto"/>
              </a:rPr>
              <a:t>foundation</a:t>
            </a:r>
            <a:endParaRPr sz="3000">
              <a:latin typeface="Roboto"/>
              <a:cs typeface="Roboto"/>
            </a:endParaRPr>
          </a:p>
          <a:p>
            <a:pPr marL="325120" indent="-318770">
              <a:lnSpc>
                <a:spcPct val="100000"/>
              </a:lnSpc>
              <a:spcBef>
                <a:spcPts val="2325"/>
              </a:spcBef>
              <a:buSzPct val="96666"/>
              <a:buAutoNum type="arabicPeriod"/>
              <a:tabLst>
                <a:tab pos="325120" algn="l"/>
              </a:tabLst>
            </a:pPr>
            <a:r>
              <a:rPr sz="3000" spc="-20" dirty="0">
                <a:solidFill>
                  <a:srgbClr val="1B1B26"/>
                </a:solidFill>
                <a:latin typeface="Roboto"/>
                <a:cs typeface="Roboto"/>
              </a:rPr>
              <a:t>Future</a:t>
            </a:r>
            <a:r>
              <a:rPr sz="3000" spc="-150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3000" spc="-20" dirty="0">
                <a:solidFill>
                  <a:srgbClr val="1B1B26"/>
                </a:solidFill>
                <a:latin typeface="Roboto"/>
                <a:cs typeface="Roboto"/>
              </a:rPr>
              <a:t>Work:</a:t>
            </a:r>
            <a:endParaRPr sz="3000">
              <a:latin typeface="Roboto"/>
              <a:cs typeface="Roboto"/>
            </a:endParaRPr>
          </a:p>
          <a:p>
            <a:pPr marL="329565" lvl="1" indent="-222885">
              <a:lnSpc>
                <a:spcPct val="100000"/>
              </a:lnSpc>
              <a:spcBef>
                <a:spcPts val="2325"/>
              </a:spcBef>
              <a:buChar char="•"/>
              <a:tabLst>
                <a:tab pos="329565" algn="l"/>
              </a:tabLst>
            </a:pPr>
            <a:r>
              <a:rPr sz="3000" dirty="0">
                <a:solidFill>
                  <a:srgbClr val="1B1B26"/>
                </a:solidFill>
                <a:latin typeface="Roboto"/>
                <a:cs typeface="Roboto"/>
              </a:rPr>
              <a:t>Real</a:t>
            </a:r>
            <a:r>
              <a:rPr sz="3000" spc="-135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3000" spc="-10" dirty="0">
                <a:solidFill>
                  <a:srgbClr val="1B1B26"/>
                </a:solidFill>
                <a:latin typeface="Roboto"/>
                <a:cs typeface="Roboto"/>
              </a:rPr>
              <a:t>Device</a:t>
            </a:r>
            <a:r>
              <a:rPr sz="3000" spc="-130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3000" spc="-30" dirty="0">
                <a:solidFill>
                  <a:srgbClr val="1B1B26"/>
                </a:solidFill>
                <a:latin typeface="Roboto"/>
                <a:cs typeface="Roboto"/>
              </a:rPr>
              <a:t>Integration</a:t>
            </a:r>
            <a:r>
              <a:rPr sz="3000" spc="-130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3000" dirty="0">
                <a:solidFill>
                  <a:srgbClr val="1B1B26"/>
                </a:solidFill>
                <a:latin typeface="Roboto"/>
                <a:cs typeface="Roboto"/>
              </a:rPr>
              <a:t>–</a:t>
            </a:r>
            <a:r>
              <a:rPr sz="3000" spc="-130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3000" dirty="0">
                <a:solidFill>
                  <a:srgbClr val="1B1B26"/>
                </a:solidFill>
                <a:latin typeface="Roboto"/>
                <a:cs typeface="Roboto"/>
              </a:rPr>
              <a:t>Connect</a:t>
            </a:r>
            <a:r>
              <a:rPr sz="3000" spc="-135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3000" dirty="0">
                <a:solidFill>
                  <a:srgbClr val="1B1B26"/>
                </a:solidFill>
                <a:latin typeface="Roboto"/>
                <a:cs typeface="Roboto"/>
              </a:rPr>
              <a:t>to</a:t>
            </a:r>
            <a:r>
              <a:rPr sz="3000" spc="-130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3000" spc="-10" dirty="0">
                <a:solidFill>
                  <a:srgbClr val="1B1B26"/>
                </a:solidFill>
                <a:latin typeface="Roboto"/>
                <a:cs typeface="Roboto"/>
              </a:rPr>
              <a:t>actual</a:t>
            </a:r>
            <a:r>
              <a:rPr sz="3000" spc="-130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3000" dirty="0">
                <a:solidFill>
                  <a:srgbClr val="1B1B26"/>
                </a:solidFill>
                <a:latin typeface="Roboto"/>
                <a:cs typeface="Roboto"/>
              </a:rPr>
              <a:t>IoT</a:t>
            </a:r>
            <a:r>
              <a:rPr sz="3000" spc="-180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3000" spc="-10" dirty="0">
                <a:solidFill>
                  <a:srgbClr val="1B1B26"/>
                </a:solidFill>
                <a:latin typeface="Roboto"/>
                <a:cs typeface="Roboto"/>
              </a:rPr>
              <a:t>devices</a:t>
            </a:r>
            <a:endParaRPr sz="3000">
              <a:latin typeface="Roboto"/>
              <a:cs typeface="Roboto"/>
            </a:endParaRPr>
          </a:p>
          <a:p>
            <a:pPr marL="329565" lvl="1" indent="-222885">
              <a:lnSpc>
                <a:spcPct val="100000"/>
              </a:lnSpc>
              <a:spcBef>
                <a:spcPts val="2325"/>
              </a:spcBef>
              <a:buChar char="•"/>
              <a:tabLst>
                <a:tab pos="329565" algn="l"/>
              </a:tabLst>
            </a:pPr>
            <a:r>
              <a:rPr sz="3000" dirty="0">
                <a:solidFill>
                  <a:srgbClr val="1B1B26"/>
                </a:solidFill>
                <a:latin typeface="Roboto"/>
                <a:cs typeface="Roboto"/>
              </a:rPr>
              <a:t>AI</a:t>
            </a:r>
            <a:r>
              <a:rPr sz="3000" spc="-114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3000" spc="-10" dirty="0">
                <a:solidFill>
                  <a:srgbClr val="1B1B26"/>
                </a:solidFill>
                <a:latin typeface="Roboto"/>
                <a:cs typeface="Roboto"/>
              </a:rPr>
              <a:t>Algorithms</a:t>
            </a:r>
            <a:r>
              <a:rPr sz="3000" spc="-114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3000" dirty="0">
                <a:solidFill>
                  <a:srgbClr val="1B1B26"/>
                </a:solidFill>
                <a:latin typeface="Roboto"/>
                <a:cs typeface="Roboto"/>
              </a:rPr>
              <a:t>–</a:t>
            </a:r>
            <a:r>
              <a:rPr sz="3000" spc="-114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3000" spc="-10" dirty="0">
                <a:solidFill>
                  <a:srgbClr val="1B1B26"/>
                </a:solidFill>
                <a:latin typeface="Roboto"/>
                <a:cs typeface="Roboto"/>
              </a:rPr>
              <a:t>Predict</a:t>
            </a:r>
            <a:r>
              <a:rPr sz="3000" spc="-114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3000" dirty="0">
                <a:solidFill>
                  <a:srgbClr val="1B1B26"/>
                </a:solidFill>
                <a:latin typeface="Roboto"/>
                <a:cs typeface="Roboto"/>
              </a:rPr>
              <a:t>usage</a:t>
            </a:r>
            <a:r>
              <a:rPr sz="3000" spc="-114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3000" spc="-20" dirty="0">
                <a:solidFill>
                  <a:srgbClr val="1B1B26"/>
                </a:solidFill>
                <a:latin typeface="Roboto"/>
                <a:cs typeface="Roboto"/>
              </a:rPr>
              <a:t>patterns,</a:t>
            </a:r>
            <a:r>
              <a:rPr sz="3000" spc="-114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3000" spc="-10" dirty="0">
                <a:solidFill>
                  <a:srgbClr val="1B1B26"/>
                </a:solidFill>
                <a:latin typeface="Roboto"/>
                <a:cs typeface="Roboto"/>
              </a:rPr>
              <a:t>optimize</a:t>
            </a:r>
            <a:r>
              <a:rPr sz="3000" spc="-114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3000" spc="-10" dirty="0">
                <a:solidFill>
                  <a:srgbClr val="1B1B26"/>
                </a:solidFill>
                <a:latin typeface="Roboto"/>
                <a:cs typeface="Roboto"/>
              </a:rPr>
              <a:t>energy</a:t>
            </a:r>
            <a:endParaRPr sz="3000">
              <a:latin typeface="Roboto"/>
              <a:cs typeface="Roboto"/>
            </a:endParaRPr>
          </a:p>
          <a:p>
            <a:pPr marL="329565" lvl="1" indent="-222885">
              <a:lnSpc>
                <a:spcPct val="100000"/>
              </a:lnSpc>
              <a:spcBef>
                <a:spcPts val="2325"/>
              </a:spcBef>
              <a:buChar char="•"/>
              <a:tabLst>
                <a:tab pos="329565" algn="l"/>
              </a:tabLst>
            </a:pPr>
            <a:r>
              <a:rPr sz="3000" spc="-10" dirty="0">
                <a:solidFill>
                  <a:srgbClr val="1B1B26"/>
                </a:solidFill>
                <a:latin typeface="Roboto"/>
                <a:cs typeface="Roboto"/>
              </a:rPr>
              <a:t>Advanced</a:t>
            </a:r>
            <a:r>
              <a:rPr sz="3000" spc="-130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3000" spc="-20" dirty="0">
                <a:solidFill>
                  <a:srgbClr val="1B1B26"/>
                </a:solidFill>
                <a:latin typeface="Roboto"/>
                <a:cs typeface="Roboto"/>
              </a:rPr>
              <a:t>Analytics</a:t>
            </a:r>
            <a:r>
              <a:rPr sz="3000" spc="-125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3000" dirty="0">
                <a:solidFill>
                  <a:srgbClr val="1B1B26"/>
                </a:solidFill>
                <a:latin typeface="Roboto"/>
                <a:cs typeface="Roboto"/>
              </a:rPr>
              <a:t>–</a:t>
            </a:r>
            <a:r>
              <a:rPr sz="3000" spc="-130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3000" dirty="0">
                <a:solidFill>
                  <a:srgbClr val="1B1B26"/>
                </a:solidFill>
                <a:latin typeface="Roboto"/>
                <a:cs typeface="Roboto"/>
              </a:rPr>
              <a:t>Big</a:t>
            </a:r>
            <a:r>
              <a:rPr sz="3000" spc="-125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3000" dirty="0">
                <a:solidFill>
                  <a:srgbClr val="1B1B26"/>
                </a:solidFill>
                <a:latin typeface="Roboto"/>
                <a:cs typeface="Roboto"/>
              </a:rPr>
              <a:t>data</a:t>
            </a:r>
            <a:r>
              <a:rPr sz="3000" spc="-125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3000" dirty="0">
                <a:solidFill>
                  <a:srgbClr val="1B1B26"/>
                </a:solidFill>
                <a:latin typeface="Roboto"/>
                <a:cs typeface="Roboto"/>
              </a:rPr>
              <a:t>tools,</a:t>
            </a:r>
            <a:r>
              <a:rPr sz="3000" spc="-130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3000" dirty="0">
                <a:solidFill>
                  <a:srgbClr val="1B1B26"/>
                </a:solidFill>
                <a:latin typeface="Roboto"/>
                <a:cs typeface="Roboto"/>
              </a:rPr>
              <a:t>deeper</a:t>
            </a:r>
            <a:r>
              <a:rPr sz="3000" spc="-125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3000" spc="-10" dirty="0">
                <a:solidFill>
                  <a:srgbClr val="1B1B26"/>
                </a:solidFill>
                <a:latin typeface="Roboto"/>
                <a:cs typeface="Roboto"/>
              </a:rPr>
              <a:t>insights</a:t>
            </a:r>
            <a:endParaRPr sz="3000">
              <a:latin typeface="Roboto"/>
              <a:cs typeface="Roboto"/>
            </a:endParaRPr>
          </a:p>
          <a:p>
            <a:pPr marL="329565" lvl="1" indent="-222885">
              <a:lnSpc>
                <a:spcPct val="100000"/>
              </a:lnSpc>
              <a:spcBef>
                <a:spcPts val="2325"/>
              </a:spcBef>
              <a:buChar char="•"/>
              <a:tabLst>
                <a:tab pos="329565" algn="l"/>
              </a:tabLst>
            </a:pPr>
            <a:r>
              <a:rPr sz="3000" dirty="0">
                <a:solidFill>
                  <a:srgbClr val="1B1B26"/>
                </a:solidFill>
                <a:latin typeface="Roboto"/>
                <a:cs typeface="Roboto"/>
              </a:rPr>
              <a:t>UX</a:t>
            </a:r>
            <a:r>
              <a:rPr sz="3000" spc="-120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3000" spc="-20" dirty="0">
                <a:solidFill>
                  <a:srgbClr val="1B1B26"/>
                </a:solidFill>
                <a:latin typeface="Roboto"/>
                <a:cs typeface="Roboto"/>
              </a:rPr>
              <a:t>Enhancements</a:t>
            </a:r>
            <a:r>
              <a:rPr sz="3000" spc="-120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3000" dirty="0">
                <a:solidFill>
                  <a:srgbClr val="1B1B26"/>
                </a:solidFill>
                <a:latin typeface="Roboto"/>
                <a:cs typeface="Roboto"/>
              </a:rPr>
              <a:t>–</a:t>
            </a:r>
            <a:r>
              <a:rPr sz="3000" spc="-120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3000" dirty="0">
                <a:solidFill>
                  <a:srgbClr val="1B1B26"/>
                </a:solidFill>
                <a:latin typeface="Roboto"/>
                <a:cs typeface="Roboto"/>
              </a:rPr>
              <a:t>Mobile</a:t>
            </a:r>
            <a:r>
              <a:rPr sz="3000" spc="-120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3000" dirty="0">
                <a:solidFill>
                  <a:srgbClr val="1B1B26"/>
                </a:solidFill>
                <a:latin typeface="Roboto"/>
                <a:cs typeface="Roboto"/>
              </a:rPr>
              <a:t>support,</a:t>
            </a:r>
            <a:r>
              <a:rPr sz="3000" spc="-120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3000" spc="-20" dirty="0">
                <a:solidFill>
                  <a:srgbClr val="1B1B26"/>
                </a:solidFill>
                <a:latin typeface="Roboto"/>
                <a:cs typeface="Roboto"/>
              </a:rPr>
              <a:t>customizable</a:t>
            </a:r>
            <a:r>
              <a:rPr sz="3000" spc="-120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3000" spc="-10" dirty="0">
                <a:solidFill>
                  <a:srgbClr val="1B1B26"/>
                </a:solidFill>
                <a:latin typeface="Roboto"/>
                <a:cs typeface="Roboto"/>
              </a:rPr>
              <a:t>dashboards</a:t>
            </a:r>
            <a:endParaRPr sz="30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2325"/>
              </a:spcBef>
            </a:pPr>
            <a:r>
              <a:rPr sz="1400" spc="1680" dirty="0">
                <a:solidFill>
                  <a:srgbClr val="1B1B26"/>
                </a:solidFill>
                <a:latin typeface="Lucida Sans Unicode"/>
                <a:cs typeface="Lucida Sans Unicode"/>
              </a:rPr>
              <a:t>→</a:t>
            </a:r>
            <a:r>
              <a:rPr sz="1400" spc="215" dirty="0">
                <a:solidFill>
                  <a:srgbClr val="1B1B26"/>
                </a:solidFill>
                <a:latin typeface="Lucida Sans Unicode"/>
                <a:cs typeface="Lucida Sans Unicode"/>
              </a:rPr>
              <a:t> </a:t>
            </a:r>
            <a:r>
              <a:rPr sz="3000" spc="-110" dirty="0">
                <a:solidFill>
                  <a:srgbClr val="1B1B26"/>
                </a:solidFill>
                <a:latin typeface="Roboto"/>
                <a:cs typeface="Roboto"/>
              </a:rPr>
              <a:t>Cloud-</a:t>
            </a:r>
            <a:r>
              <a:rPr sz="3000" spc="-20" dirty="0">
                <a:solidFill>
                  <a:srgbClr val="1B1B26"/>
                </a:solidFill>
                <a:latin typeface="Roboto"/>
                <a:cs typeface="Roboto"/>
              </a:rPr>
              <a:t>native</a:t>
            </a:r>
            <a:r>
              <a:rPr sz="3000" spc="-80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3000" dirty="0">
                <a:solidFill>
                  <a:srgbClr val="1B1B26"/>
                </a:solidFill>
                <a:latin typeface="Roboto"/>
                <a:cs typeface="Roboto"/>
              </a:rPr>
              <a:t>+</a:t>
            </a:r>
            <a:r>
              <a:rPr sz="3000" spc="-75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3000" spc="-20" dirty="0">
                <a:solidFill>
                  <a:srgbClr val="1B1B26"/>
                </a:solidFill>
                <a:latin typeface="Roboto"/>
                <a:cs typeface="Roboto"/>
              </a:rPr>
              <a:t>Microservices</a:t>
            </a:r>
            <a:r>
              <a:rPr sz="3000" spc="-80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3000" dirty="0">
                <a:solidFill>
                  <a:srgbClr val="1B1B26"/>
                </a:solidFill>
                <a:latin typeface="Roboto"/>
                <a:cs typeface="Roboto"/>
              </a:rPr>
              <a:t>=</a:t>
            </a:r>
            <a:r>
              <a:rPr sz="3000" spc="-80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3000" spc="-30" dirty="0">
                <a:solidFill>
                  <a:srgbClr val="1B1B26"/>
                </a:solidFill>
                <a:latin typeface="Roboto"/>
                <a:cs typeface="Roboto"/>
              </a:rPr>
              <a:t>Sustainable</a:t>
            </a:r>
            <a:r>
              <a:rPr sz="3000" spc="-75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3000" spc="-10" dirty="0">
                <a:solidFill>
                  <a:srgbClr val="1B1B26"/>
                </a:solidFill>
                <a:latin typeface="Roboto"/>
                <a:cs typeface="Roboto"/>
              </a:rPr>
              <a:t>growth</a:t>
            </a:r>
            <a:r>
              <a:rPr sz="3000" spc="-80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3000" dirty="0">
                <a:solidFill>
                  <a:srgbClr val="1B1B26"/>
                </a:solidFill>
                <a:latin typeface="Roboto"/>
                <a:cs typeface="Roboto"/>
              </a:rPr>
              <a:t>platform</a:t>
            </a:r>
            <a:r>
              <a:rPr sz="3000" spc="-80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3000" dirty="0">
                <a:solidFill>
                  <a:srgbClr val="1B1B26"/>
                </a:solidFill>
                <a:latin typeface="Roboto"/>
                <a:cs typeface="Roboto"/>
              </a:rPr>
              <a:t>for</a:t>
            </a:r>
            <a:r>
              <a:rPr sz="3000" spc="-75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3000" spc="-10" dirty="0">
                <a:solidFill>
                  <a:srgbClr val="1B1B26"/>
                </a:solidFill>
                <a:latin typeface="Roboto"/>
                <a:cs typeface="Roboto"/>
              </a:rPr>
              <a:t>future</a:t>
            </a:r>
            <a:r>
              <a:rPr sz="3000" spc="-80" dirty="0">
                <a:solidFill>
                  <a:srgbClr val="1B1B26"/>
                </a:solidFill>
                <a:latin typeface="Roboto"/>
                <a:cs typeface="Roboto"/>
              </a:rPr>
              <a:t> </a:t>
            </a:r>
            <a:r>
              <a:rPr sz="3000" spc="-25" dirty="0">
                <a:solidFill>
                  <a:srgbClr val="1B1B26"/>
                </a:solidFill>
                <a:latin typeface="Roboto"/>
                <a:cs typeface="Roboto"/>
              </a:rPr>
              <a:t>EMS</a:t>
            </a:r>
            <a:endParaRPr sz="30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5FA79AE-A9D2-410D-8007-BC3F0722F6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853E013-7354-45A1-A6F2-8FEF9CD5DF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670</Words>
  <Application>Microsoft Office PowerPoint</Application>
  <PresentationFormat>Custom</PresentationFormat>
  <Paragraphs>111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Lucida Sans Unicode</vt:lpstr>
      <vt:lpstr>Roboto</vt:lpstr>
      <vt:lpstr>Office Theme</vt:lpstr>
      <vt:lpstr>ICIS2025</vt:lpstr>
      <vt:lpstr>Table of Contents</vt:lpstr>
      <vt:lpstr>I. Introduction</vt:lpstr>
      <vt:lpstr>II. Previous Research</vt:lpstr>
      <vt:lpstr>III. Proposed Architecture</vt:lpstr>
      <vt:lpstr>IV. Results and Discussion</vt:lpstr>
      <vt:lpstr>2. Results</vt:lpstr>
      <vt:lpstr>B. Energy Consumption Summary Dashboard:</vt:lpstr>
      <vt:lpstr>C. General Overview – CI/CD Workflow:</vt:lpstr>
      <vt:lpstr>V. Conclusions and Future Research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Bản sao của Bản sao của A Cloud Native Approach of Energy Monitoring System Using Microservices Architecture</dc:title>
  <dc:creator>Quỳnh Anh</dc:creator>
  <cp:keywords>DAG1i4-P0S0,BAGoF_3wrrw,0</cp:keywords>
  <cp:lastModifiedBy>Đức Mạnh Nguyễn</cp:lastModifiedBy>
  <cp:revision>1</cp:revision>
  <dcterms:created xsi:type="dcterms:W3CDTF">2025-10-12T06:12:48Z</dcterms:created>
  <dcterms:modified xsi:type="dcterms:W3CDTF">2025-10-12T06:16:38Z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2025-10-12T00:00:00Z</vt:filetime>
  </property>
  <property fmtid="{D5CDD505-2E9C-101B-9397-08002B2CF9AE}" pid="3" name="Creator">
    <vt:lpwstr>Canva</vt:lpwstr>
  </property>
  <property fmtid="{D5CDD505-2E9C-101B-9397-08002B2CF9AE}" pid="4" name="LastSaved">
    <vt:filetime>2025-10-12T00:00:00Z</vt:filetime>
  </property>
  <property fmtid="{D5CDD505-2E9C-101B-9397-08002B2CF9AE}" pid="5" name="Producer">
    <vt:lpwstr>Canva</vt:lpwstr>
  </property>
</Properties>
</file>